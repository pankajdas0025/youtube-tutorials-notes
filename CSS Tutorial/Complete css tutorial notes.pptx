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13434-CA7A-F29D-E8C2-05D7F4F4D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4870B-5533-A6BE-8201-FDB276EB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F274E-7C71-1556-BC16-E0C2641E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F0249-7A0E-F96D-1055-7B505FA4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05D6-D643-A1B2-2BAF-2CA7BA67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7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0103-5F55-917A-8E3C-CF27A9F9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A2B2D-DAD4-9099-90FE-AF5FBCACB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94E77-C32B-F140-B173-2CAC2F38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0712F-6327-28AB-B37B-B1FAE355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DEFF1-4854-C01D-DB9E-2DB4F3D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06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8EC4-280D-601A-AADE-CACC0AD5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104AF-0784-C017-AC36-2B999B4FD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2804F-2901-9FCA-74D9-BF66235C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C8CB0-B6FC-0F3B-1ABE-74502426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E73B9-BBE3-81E6-440E-35998586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2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1C25-A70B-E1E2-7C7B-979ECEB1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D387-3A50-3A0A-E784-908437CF2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F6F56-64A7-C83B-4A5E-CAEB28C25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9F0F3-F656-5D57-86FD-5E0D0BB2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7E692-1747-EB03-8C44-B1D03ECC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D07B1-0BB9-2BF4-0D54-F942B934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2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E45E-2D6C-AF64-EC6F-A461C008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023D4-B826-CCFE-4FF0-B697D07FD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9AFD-71F8-9B54-A6E1-7E8A55AF8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8D931-3CAE-A134-B0AC-AA84BC37E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E88AA-ECA8-E3F3-1A25-907FCAC0E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AC075-01E8-C832-4449-A0B81248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639C1-8562-6564-0ED9-816D0C09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6F9E8-7C05-0010-9A84-B1016258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51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9242-0AC6-AD85-061C-04F71D6A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98928-C325-28A7-F30F-211A7F98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6BF26-FC22-35BE-294E-53473E26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8D3E1-FEA8-1C2D-DAA7-C84A6642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9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7F7B4-E79A-09F9-C33F-6EA5D5E6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189A0-B0E2-D46A-A463-035B22AA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27E74-FAB4-0A07-EEF8-E3CA90E2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15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50EC-CEAF-12FA-1EAB-AD047980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0456A-8A4F-C95C-BCA4-A2C3400AF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2589C-F0E5-1508-96D6-789F2BAEC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1A947-66FC-28D5-0CB5-B69D698D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85B03-46F8-DF0C-831A-7C2C709A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37EF2-D40E-D37A-F828-0BBAB9B3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197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29DF-3937-BB7A-28E3-F1F0DD82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15694-3A78-B6F4-8357-6D542DD8B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A5F2F-F497-6AF3-D9FE-B74948BE8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EC0AC-92CC-D406-203F-9D7FC5BE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108CC-D93D-B044-FE5A-B4453ADB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A7C97-B56A-6C82-510B-9C34DA93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50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D693-780B-ECB3-5F34-EDC318E3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DFCCD-DE9D-77E1-807B-3F51C5855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D5B6-8EA4-F4E9-7328-1CAB7E52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900F-D8A0-1CF2-93EE-806424D9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3F4B-A4C0-0C88-4208-D5A7A111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33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CBBAB2-5344-1677-CCFF-20F178B76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25EA3-74F4-427E-D6E1-B6B6ECAA2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1874-0742-E3A3-42D6-5A15D9B3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49947-5FBA-1146-E023-6001B383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C7B48-840B-72A3-42F3-FDBC3745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73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E6EA6-FB6C-4EA2-E0B6-06385C67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305E5-1B9D-25E2-7A4E-0134DF6D2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4FE69-9E92-9C1A-71F0-A18A81E2D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4B0A7-C8ED-4D30-B2D5-9FEA6A901CB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957F3-2C8B-E919-4F15-BA4717661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7A720-102A-E3AD-1D85-EBB1D79F7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2A7EE-6582-4B07-A175-3B79C07A9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92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w3schools.com/cssref/pr_text_color.ph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4C5016-8E25-FFFE-4BF2-74D14002D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" y="104363"/>
            <a:ext cx="12059622" cy="64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8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25151-46C8-EAE6-25E7-DE65C0E8F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FFF80E-D4C7-15A7-B5CB-AC9D0B09ACC1}"/>
              </a:ext>
            </a:extLst>
          </p:cNvPr>
          <p:cNvSpPr txBox="1"/>
          <p:nvPr/>
        </p:nvSpPr>
        <p:spPr>
          <a:xfrm>
            <a:off x="585195" y="281265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What is CSS ?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21B2D-D2DF-E1D0-29E5-9A951ACB5B94}"/>
              </a:ext>
            </a:extLst>
          </p:cNvPr>
          <p:cNvSpPr txBox="1"/>
          <p:nvPr/>
        </p:nvSpPr>
        <p:spPr>
          <a:xfrm>
            <a:off x="665922" y="1415204"/>
            <a:ext cx="9988826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CSS stands for Cascading Style Sheets.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CSS </a:t>
            </a:r>
            <a:r>
              <a:rPr lang="en-US" dirty="0"/>
              <a:t>was conceptualized and proposed by </a:t>
            </a:r>
            <a:r>
              <a:rPr lang="en-US" b="1" dirty="0"/>
              <a:t>Hakon Wium Lie</a:t>
            </a:r>
            <a:r>
              <a:rPr lang="en-US" dirty="0"/>
              <a:t> in 1994.</a:t>
            </a:r>
          </a:p>
          <a:p>
            <a:pPr>
              <a:lnSpc>
                <a:spcPct val="150000"/>
              </a:lnSpc>
            </a:pPr>
            <a:r>
              <a:rPr lang="en-US" dirty="0"/>
              <a:t>The first official version “</a:t>
            </a:r>
            <a:r>
              <a:rPr lang="en-US" b="1" dirty="0"/>
              <a:t>CSS1</a:t>
            </a:r>
            <a:r>
              <a:rPr lang="en-US" dirty="0"/>
              <a:t>” was released in December 1996.</a:t>
            </a:r>
          </a:p>
          <a:p>
            <a:pPr>
              <a:lnSpc>
                <a:spcPct val="150000"/>
              </a:lnSpc>
            </a:pPr>
            <a:r>
              <a:rPr lang="en-US" dirty="0"/>
              <a:t>CSS is the language we use to style an HTML document.</a:t>
            </a:r>
          </a:p>
          <a:p>
            <a:pPr>
              <a:lnSpc>
                <a:spcPct val="150000"/>
              </a:lnSpc>
            </a:pPr>
            <a:r>
              <a:rPr lang="en-US" dirty="0"/>
              <a:t>It is used to design the layout of webpage and used to give styles to the page 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026" name="Picture 2" descr="Car 2014 Mazda6 2018 Mazda6 Chassis, car structure, vehicle, transport ...">
            <a:extLst>
              <a:ext uri="{FF2B5EF4-FFF2-40B4-BE49-F238E27FC236}">
                <a16:creationId xmlns:a16="http://schemas.microsoft.com/office/drawing/2014/main" id="{35EC2931-9ED4-AEFB-9E06-032395260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949" b="89932" l="5109" r="93370">
                        <a14:foregroundMark x1="27717" y1="28157" x2="36522" y2="36689"/>
                        <a14:foregroundMark x1="47283" y1="13481" x2="57391" y2="16382"/>
                        <a14:foregroundMark x1="55109" y1="4949" x2="61304" y2="4949"/>
                        <a14:foregroundMark x1="61304" y1="4949" x2="70652" y2="4949"/>
                        <a14:foregroundMark x1="70652" y1="4949" x2="57960" y2="20131"/>
                        <a14:foregroundMark x1="55092" y1="27709" x2="53913" y2="31741"/>
                        <a14:foregroundMark x1="53535" y1="32419" x2="51630" y2="35836"/>
                        <a14:foregroundMark x1="53913" y1="31741" x2="53793" y2="31956"/>
                        <a14:foregroundMark x1="60326" y1="22014" x2="56630" y2="27474"/>
                        <a14:foregroundMark x1="91739" y1="21331" x2="93478" y2="26621"/>
                        <a14:foregroundMark x1="8587" y1="57167" x2="12609" y2="63481"/>
                        <a14:foregroundMark x1="8043" y1="41297" x2="15978" y2="34300"/>
                        <a14:foregroundMark x1="18478" y1="53072" x2="27283" y2="54437"/>
                        <a14:foregroundMark x1="5109" y1="52730" x2="5326" y2="52730"/>
                        <a14:foregroundMark x1="19348" y1="51365" x2="22391" y2="53584"/>
                        <a14:foregroundMark x1="39457" y1="24744" x2="40326" y2="26621"/>
                        <a14:foregroundMark x1="43261" y1="17747" x2="38587" y2="23891"/>
                        <a14:foregroundMark x1="38587" y1="23891" x2="36848" y2="24061"/>
                        <a14:foregroundMark x1="48587" y1="19966" x2="51196" y2="27474"/>
                        <a14:foregroundMark x1="53696" y1="27474" x2="50870" y2="31229"/>
                        <a14:foregroundMark x1="54130" y1="12116" x2="60870" y2="11604"/>
                        <a14:backgroundMark x1="53043" y1="22184" x2="52673" y2="24157"/>
                        <a14:backgroundMark x1="55637" y1="26202" x2="54891" y2="274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96" y="4683685"/>
            <a:ext cx="3647661" cy="232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 PNG Transparent Images | PNG All">
            <a:extLst>
              <a:ext uri="{FF2B5EF4-FFF2-40B4-BE49-F238E27FC236}">
                <a16:creationId xmlns:a16="http://schemas.microsoft.com/office/drawing/2014/main" id="{7281BE04-1AA5-CC19-58AA-A46B0BB40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436" y="4478851"/>
            <a:ext cx="3458108" cy="19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E5860D-D6D9-2154-34AD-525613B455F4}"/>
              </a:ext>
            </a:extLst>
          </p:cNvPr>
          <p:cNvCxnSpPr/>
          <p:nvPr/>
        </p:nvCxnSpPr>
        <p:spPr>
          <a:xfrm>
            <a:off x="4938091" y="5510367"/>
            <a:ext cx="231581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1B9545-6033-D29F-38D6-7095036DB1BF}"/>
              </a:ext>
            </a:extLst>
          </p:cNvPr>
          <p:cNvSpPr txBox="1"/>
          <p:nvPr/>
        </p:nvSpPr>
        <p:spPr>
          <a:xfrm>
            <a:off x="2027583" y="4005470"/>
            <a:ext cx="1212574" cy="367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 CSS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C5F7F-8A81-35C4-AB4B-A3F27C87C36D}"/>
              </a:ext>
            </a:extLst>
          </p:cNvPr>
          <p:cNvSpPr txBox="1"/>
          <p:nvPr/>
        </p:nvSpPr>
        <p:spPr>
          <a:xfrm>
            <a:off x="8951843" y="4111104"/>
            <a:ext cx="1212574" cy="367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CSS</a:t>
            </a:r>
          </a:p>
        </p:txBody>
      </p:sp>
    </p:spTree>
    <p:extLst>
      <p:ext uri="{BB962C8B-B14F-4D97-AF65-F5344CB8AC3E}">
        <p14:creationId xmlns:p14="http://schemas.microsoft.com/office/powerpoint/2010/main" val="53808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40B3-9A8E-ECF1-92CA-094D5CFE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986CD1-C5E3-3575-73D4-B94FF11F0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D88A5A-D050-1BB9-BEBC-9C06BEC5461B}"/>
              </a:ext>
            </a:extLst>
          </p:cNvPr>
          <p:cNvSpPr txBox="1"/>
          <p:nvPr/>
        </p:nvSpPr>
        <p:spPr>
          <a:xfrm>
            <a:off x="585195" y="281265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CSS Versions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99864-AEC0-475D-E81C-DA78EB6E3D8A}"/>
              </a:ext>
            </a:extLst>
          </p:cNvPr>
          <p:cNvSpPr txBox="1"/>
          <p:nvPr/>
        </p:nvSpPr>
        <p:spPr>
          <a:xfrm>
            <a:off x="665922" y="1415204"/>
            <a:ext cx="99888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u="sng" dirty="0"/>
              <a:t>CSS1</a:t>
            </a:r>
          </a:p>
          <a:p>
            <a:r>
              <a:rPr lang="en-US" dirty="0">
                <a:solidFill>
                  <a:srgbClr val="FF0000"/>
                </a:solidFill>
              </a:rPr>
              <a:t>The first official version of CSS, it was published in </a:t>
            </a:r>
            <a:r>
              <a:rPr lang="en-US" b="1" dirty="0">
                <a:solidFill>
                  <a:srgbClr val="FF0000"/>
                </a:solidFill>
              </a:rPr>
              <a:t>December 1996</a:t>
            </a:r>
            <a:r>
              <a:rPr lang="en-US" dirty="0">
                <a:solidFill>
                  <a:srgbClr val="FF0000"/>
                </a:solidFill>
              </a:rPr>
              <a:t>. It introduced basic features for text styling, font properties, margins, padding, color and background styling, and the box model.</a:t>
            </a:r>
          </a:p>
          <a:p>
            <a:endParaRPr lang="en-IN" b="1" dirty="0"/>
          </a:p>
          <a:p>
            <a:r>
              <a:rPr lang="en-IN" b="1" dirty="0"/>
              <a:t>2</a:t>
            </a:r>
            <a:r>
              <a:rPr lang="en-IN" b="1" u="sng" dirty="0"/>
              <a:t>. CSS2</a:t>
            </a:r>
          </a:p>
          <a:p>
            <a:r>
              <a:rPr lang="en-US" dirty="0">
                <a:solidFill>
                  <a:srgbClr val="FF0000"/>
                </a:solidFill>
              </a:rPr>
              <a:t>It was released in </a:t>
            </a:r>
            <a:r>
              <a:rPr lang="en-US" b="1" dirty="0">
                <a:solidFill>
                  <a:srgbClr val="FF0000"/>
                </a:solidFill>
              </a:rPr>
              <a:t>May 1998</a:t>
            </a:r>
            <a:r>
              <a:rPr lang="en-US" dirty="0">
                <a:solidFill>
                  <a:srgbClr val="FF0000"/>
                </a:solidFill>
              </a:rPr>
              <a:t>, </a:t>
            </a:r>
            <a:r>
              <a:rPr lang="en-US" b="1" dirty="0">
                <a:solidFill>
                  <a:srgbClr val="FF0000"/>
                </a:solidFill>
              </a:rPr>
              <a:t>CSS2</a:t>
            </a:r>
            <a:r>
              <a:rPr lang="en-US" dirty="0">
                <a:solidFill>
                  <a:srgbClr val="FF0000"/>
                </a:solidFill>
              </a:rPr>
              <a:t> expanded upon CSS1 by adding more styling selectors, positioning capabilities, media types, and additional properties to enhance styling options.</a:t>
            </a:r>
          </a:p>
          <a:p>
            <a:endParaRPr lang="en-IN" b="1" dirty="0"/>
          </a:p>
          <a:p>
            <a:r>
              <a:rPr lang="en-IN" b="1" dirty="0"/>
              <a:t>3</a:t>
            </a:r>
            <a:r>
              <a:rPr lang="en-IN" b="1" u="sng" dirty="0"/>
              <a:t>. CSS 2.1</a:t>
            </a:r>
          </a:p>
          <a:p>
            <a:r>
              <a:rPr lang="en-US" dirty="0">
                <a:solidFill>
                  <a:srgbClr val="FF0000"/>
                </a:solidFill>
              </a:rPr>
              <a:t>An important revision known as </a:t>
            </a:r>
            <a:r>
              <a:rPr lang="en-US" b="1" dirty="0">
                <a:solidFill>
                  <a:srgbClr val="FF0000"/>
                </a:solidFill>
              </a:rPr>
              <a:t>CSS 2.1</a:t>
            </a:r>
            <a:r>
              <a:rPr lang="en-US" dirty="0">
                <a:solidFill>
                  <a:srgbClr val="FF0000"/>
                </a:solidFill>
              </a:rPr>
              <a:t> addressed inconsistencies and errors found in CSS2. It became a W3C Recommendation in </a:t>
            </a:r>
            <a:r>
              <a:rPr lang="en-US" b="1" dirty="0">
                <a:solidFill>
                  <a:srgbClr val="FF0000"/>
                </a:solidFill>
              </a:rPr>
              <a:t>June 2011</a:t>
            </a:r>
            <a:r>
              <a:rPr lang="en-US" dirty="0">
                <a:solidFill>
                  <a:srgbClr val="FF0000"/>
                </a:solidFill>
              </a:rPr>
              <a:t> and is widely supported across all major browsers.</a:t>
            </a:r>
          </a:p>
          <a:p>
            <a:endParaRPr lang="en-IN" b="1" dirty="0"/>
          </a:p>
          <a:p>
            <a:r>
              <a:rPr lang="en-IN" b="1" dirty="0"/>
              <a:t>4. </a:t>
            </a:r>
            <a:r>
              <a:rPr lang="en-IN" b="1" u="sng" dirty="0"/>
              <a:t>CSS3</a:t>
            </a:r>
          </a:p>
          <a:p>
            <a:r>
              <a:rPr lang="en-US" dirty="0">
                <a:solidFill>
                  <a:srgbClr val="FF0000"/>
                </a:solidFill>
              </a:rPr>
              <a:t>CSS3 is an </a:t>
            </a:r>
            <a:r>
              <a:rPr lang="en-US" b="1" dirty="0">
                <a:solidFill>
                  <a:srgbClr val="FF0000"/>
                </a:solidFill>
              </a:rPr>
              <a:t>upgraded version of CSS</a:t>
            </a:r>
            <a:r>
              <a:rPr lang="en-US" dirty="0">
                <a:solidFill>
                  <a:srgbClr val="FF0000"/>
                </a:solidFill>
              </a:rPr>
              <a:t> that adds modern styling capabilities like </a:t>
            </a:r>
            <a:r>
              <a:rPr lang="en-US" b="1" dirty="0">
                <a:solidFill>
                  <a:srgbClr val="FF0000"/>
                </a:solidFill>
              </a:rPr>
              <a:t>animations, transitions, gradients, flexbox, grid</a:t>
            </a:r>
            <a:r>
              <a:rPr lang="en-US" dirty="0">
                <a:solidFill>
                  <a:srgbClr val="FF0000"/>
                </a:solidFill>
              </a:rPr>
              <a:t>, and more.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It allows developers to create </a:t>
            </a:r>
            <a:r>
              <a:rPr lang="en-US" b="1" dirty="0">
                <a:solidFill>
                  <a:srgbClr val="FF0000"/>
                </a:solidFill>
              </a:rPr>
              <a:t>interactive, responsive, and visually rich</a:t>
            </a:r>
            <a:r>
              <a:rPr lang="en-US" dirty="0">
                <a:solidFill>
                  <a:srgbClr val="FF0000"/>
                </a:solidFill>
              </a:rPr>
              <a:t> web pages without using much JavaScript or images.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3711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3651-71C4-96E5-7379-3E6D9772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66BAE-1163-6210-E1CF-22EA7FAEF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9070AE-E940-13DC-4AB2-BECA4BC6EF7F}"/>
              </a:ext>
            </a:extLst>
          </p:cNvPr>
          <p:cNvSpPr txBox="1"/>
          <p:nvPr/>
        </p:nvSpPr>
        <p:spPr>
          <a:xfrm>
            <a:off x="585195" y="281265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CSS Syntax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C8DD3-A65A-7E2C-3ADB-19D7FA13D035}"/>
              </a:ext>
            </a:extLst>
          </p:cNvPr>
          <p:cNvSpPr txBox="1"/>
          <p:nvPr/>
        </p:nvSpPr>
        <p:spPr>
          <a:xfrm>
            <a:off x="677961" y="2677414"/>
            <a:ext cx="998882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990055"/>
                </a:solidFill>
                <a:latin typeface="Consolas" panose="020B0609020204030204" pitchFamily="49" charset="0"/>
              </a:rPr>
              <a:t>Example - </a:t>
            </a:r>
          </a:p>
          <a:p>
            <a:r>
              <a:rPr lang="en-IN" sz="2800" b="1" dirty="0">
                <a:solidFill>
                  <a:srgbClr val="990055"/>
                </a:solidFill>
                <a:latin typeface="Consolas" panose="020B0609020204030204" pitchFamily="49" charset="0"/>
              </a:rPr>
              <a:t>p </a:t>
            </a:r>
            <a:r>
              <a:rPr lang="en-IN" sz="2800" b="1" dirty="0">
                <a:solidFill>
                  <a:srgbClr val="999999"/>
                </a:solidFill>
                <a:latin typeface="Consolas" panose="020B0609020204030204" pitchFamily="49" charset="0"/>
              </a:rPr>
              <a:t>{</a:t>
            </a:r>
            <a:r>
              <a:rPr lang="en-IN" sz="2800" b="1" dirty="0">
                <a:solidFill>
                  <a:srgbClr val="D73A49"/>
                </a:solidFill>
                <a:latin typeface="Consolas" panose="020B0609020204030204" pitchFamily="49" charset="0"/>
              </a:rPr>
              <a:t> color</a:t>
            </a:r>
            <a:r>
              <a:rPr lang="en-IN" sz="2800" b="1" dirty="0">
                <a:solidFill>
                  <a:srgbClr val="999999"/>
                </a:solidFill>
                <a:latin typeface="Consolas" panose="020B0609020204030204" pitchFamily="49" charset="0"/>
              </a:rPr>
              <a:t>:</a:t>
            </a:r>
            <a:r>
              <a:rPr lang="en-IN" sz="2800" b="1" dirty="0">
                <a:solidFill>
                  <a:srgbClr val="005CC5"/>
                </a:solidFill>
                <a:latin typeface="Consolas" panose="020B0609020204030204" pitchFamily="49" charset="0"/>
              </a:rPr>
              <a:t> red</a:t>
            </a:r>
            <a:r>
              <a:rPr lang="en-IN" sz="2800" b="1" dirty="0">
                <a:solidFill>
                  <a:srgbClr val="999999"/>
                </a:solidFill>
                <a:latin typeface="Consolas" panose="020B0609020204030204" pitchFamily="49" charset="0"/>
              </a:rPr>
              <a:t>;</a:t>
            </a:r>
            <a:r>
              <a:rPr lang="en-IN" sz="2800" b="1" dirty="0">
                <a:solidFill>
                  <a:srgbClr val="D73A49"/>
                </a:solidFill>
                <a:latin typeface="Consolas" panose="020B0609020204030204" pitchFamily="49" charset="0"/>
              </a:rPr>
              <a:t> </a:t>
            </a:r>
            <a:r>
              <a:rPr lang="en-IN" sz="2800" b="1" dirty="0">
                <a:solidFill>
                  <a:srgbClr val="999999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2800" b="1" dirty="0">
              <a:solidFill>
                <a:srgbClr val="999999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dirty="0"/>
              <a:t> is a selector in CSS (which select all &lt;p&gt; elements).</a:t>
            </a:r>
          </a:p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color: red ; </a:t>
            </a:r>
            <a:r>
              <a:rPr lang="en-US" dirty="0"/>
              <a:t>is declaration of the CSS selector.</a:t>
            </a:r>
          </a:p>
          <a:p>
            <a:r>
              <a:rPr lang="en-US" dirty="0">
                <a:hlinkClick r:id="rId4"/>
              </a:rPr>
              <a:t>color</a:t>
            </a:r>
            <a:r>
              <a:rPr lang="en-US" dirty="0"/>
              <a:t> is a property, and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 red </a:t>
            </a:r>
            <a:r>
              <a:rPr lang="en-US" dirty="0"/>
              <a:t>is the property value</a:t>
            </a:r>
          </a:p>
          <a:p>
            <a:endParaRPr lang="en-IN" sz="2800" b="1" dirty="0"/>
          </a:p>
          <a:p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502A5-4E11-7DA3-F9A0-817C409B5D55}"/>
              </a:ext>
            </a:extLst>
          </p:cNvPr>
          <p:cNvSpPr txBox="1"/>
          <p:nvPr/>
        </p:nvSpPr>
        <p:spPr>
          <a:xfrm>
            <a:off x="677961" y="1433173"/>
            <a:ext cx="9988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990055"/>
                </a:solidFill>
                <a:latin typeface="Consolas" panose="020B0609020204030204" pitchFamily="49" charset="0"/>
              </a:rPr>
              <a:t>Selector_name</a:t>
            </a:r>
            <a:r>
              <a:rPr lang="en-IN" sz="2000" b="1" dirty="0">
                <a:solidFill>
                  <a:srgbClr val="999999"/>
                </a:solidFill>
                <a:latin typeface="Consolas" panose="020B0609020204030204" pitchFamily="49" charset="0"/>
              </a:rPr>
              <a:t>{</a:t>
            </a:r>
            <a:br>
              <a:rPr lang="en-IN" sz="2000" b="1" dirty="0">
                <a:solidFill>
                  <a:srgbClr val="D73A49"/>
                </a:solidFill>
                <a:latin typeface="Consolas" panose="020B0609020204030204" pitchFamily="49" charset="0"/>
              </a:rPr>
            </a:br>
            <a:r>
              <a:rPr lang="en-IN" sz="2000" b="1" dirty="0">
                <a:solidFill>
                  <a:srgbClr val="D73A49"/>
                </a:solidFill>
                <a:latin typeface="Consolas" panose="020B0609020204030204" pitchFamily="49" charset="0"/>
              </a:rPr>
              <a:t>  declaration;</a:t>
            </a:r>
          </a:p>
          <a:p>
            <a:r>
              <a:rPr lang="en-IN" sz="2000" b="1" dirty="0">
                <a:solidFill>
                  <a:srgbClr val="D73A49"/>
                </a:solidFill>
                <a:latin typeface="Consolas" panose="020B0609020204030204" pitchFamily="49" charset="0"/>
              </a:rPr>
              <a:t> </a:t>
            </a:r>
            <a:r>
              <a:rPr lang="en-IN" sz="2000" b="1" dirty="0">
                <a:solidFill>
                  <a:srgbClr val="999999"/>
                </a:solidFill>
                <a:latin typeface="Consolas" panose="020B0609020204030204" pitchFamily="49" charset="0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0266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C618F-0DEE-387C-D937-3EFCFD30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93E350-FF65-6897-6189-F0B1FF158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975EC2-3F7D-37A2-2E39-8423052BCDD8}"/>
              </a:ext>
            </a:extLst>
          </p:cNvPr>
          <p:cNvSpPr txBox="1"/>
          <p:nvPr/>
        </p:nvSpPr>
        <p:spPr>
          <a:xfrm>
            <a:off x="585195" y="281265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Types of Selectors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22078-AD0F-48E1-8CCB-44DFD1F64D76}"/>
              </a:ext>
            </a:extLst>
          </p:cNvPr>
          <p:cNvSpPr txBox="1"/>
          <p:nvPr/>
        </p:nvSpPr>
        <p:spPr>
          <a:xfrm>
            <a:off x="787292" y="1430798"/>
            <a:ext cx="9988826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Universal Selector: </a:t>
            </a:r>
            <a:r>
              <a:rPr lang="en-US" dirty="0"/>
              <a:t>Applies styles to all elements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pPr fontAlgn="base">
              <a:lnSpc>
                <a:spcPts val="1313"/>
              </a:lnSpc>
            </a:pPr>
            <a:r>
              <a:rPr lang="en-IN" sz="2000" dirty="0">
                <a:solidFill>
                  <a:srgbClr val="666666"/>
                </a:solidFill>
                <a:latin typeface="Consolas" panose="020B0609020204030204" pitchFamily="49" charset="0"/>
              </a:rPr>
              <a:t>*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margin</a:t>
            </a:r>
            <a:r>
              <a:rPr lang="en-IN" sz="2000" dirty="0">
                <a:latin typeface="Consolas" panose="020B0609020204030204" pitchFamily="49" charset="0"/>
              </a:rPr>
              <a:t>: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0;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latin typeface="Consolas" panose="020B0609020204030204" pitchFamily="49" charset="0"/>
              </a:rPr>
              <a:t>  }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endParaRPr lang="en-IN" sz="2000" dirty="0">
              <a:latin typeface="Consolas" panose="020B0609020204030204" pitchFamily="49" charset="0"/>
            </a:endParaRPr>
          </a:p>
          <a:p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37456D-BCAC-3A83-6605-7DD377587010}"/>
              </a:ext>
            </a:extLst>
          </p:cNvPr>
          <p:cNvSpPr txBox="1"/>
          <p:nvPr/>
        </p:nvSpPr>
        <p:spPr>
          <a:xfrm>
            <a:off x="727823" y="2687669"/>
            <a:ext cx="9988826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Name Selector:</a:t>
            </a:r>
            <a:r>
              <a:rPr lang="en-US" dirty="0"/>
              <a:t> it select all elements with specific name.</a:t>
            </a:r>
          </a:p>
          <a:p>
            <a:endParaRPr lang="en-US" dirty="0"/>
          </a:p>
          <a:p>
            <a:pPr fontAlgn="base">
              <a:lnSpc>
                <a:spcPts val="1313"/>
              </a:lnSpc>
            </a:pP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h1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273239"/>
                </a:solidFill>
                <a:latin typeface="Consolas" panose="020B0609020204030204" pitchFamily="49" charset="0"/>
              </a:rPr>
              <a:t>{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color</a:t>
            </a:r>
            <a:r>
              <a:rPr lang="en-IN" sz="2000" dirty="0">
                <a:solidFill>
                  <a:srgbClr val="273239"/>
                </a:solidFill>
                <a:latin typeface="Consolas" panose="020B0609020204030204" pitchFamily="49" charset="0"/>
              </a:rPr>
              <a:t>: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white</a:t>
            </a:r>
            <a:r>
              <a:rPr lang="en-IN" sz="2000" dirty="0">
                <a:solidFill>
                  <a:srgbClr val="273239"/>
                </a:solidFill>
                <a:latin typeface="Consolas" panose="020B0609020204030204" pitchFamily="49" charset="0"/>
              </a:rPr>
              <a:t>;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solidFill>
                  <a:srgbClr val="273239"/>
                </a:solidFill>
                <a:latin typeface="Consolas" panose="020B0609020204030204" pitchFamily="49" charset="0"/>
              </a:rPr>
              <a:t>   }</a:t>
            </a:r>
          </a:p>
          <a:p>
            <a:pPr>
              <a:buNone/>
            </a:pPr>
            <a:br>
              <a:rPr lang="en-IN" sz="2000" dirty="0"/>
            </a:b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5C65D-BB9A-150E-80DB-B2B1BBE59788}"/>
              </a:ext>
            </a:extLst>
          </p:cNvPr>
          <p:cNvSpPr txBox="1"/>
          <p:nvPr/>
        </p:nvSpPr>
        <p:spPr>
          <a:xfrm>
            <a:off x="727823" y="4195891"/>
            <a:ext cx="9988826" cy="1510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Class Selector:</a:t>
            </a:r>
            <a:r>
              <a:rPr lang="en-US" dirty="0"/>
              <a:t> Styles elements with a specific class attribute.</a:t>
            </a:r>
          </a:p>
          <a:p>
            <a:pPr fontAlgn="base">
              <a:lnSpc>
                <a:spcPts val="1313"/>
              </a:lnSpc>
            </a:pPr>
            <a:r>
              <a:rPr lang="en-US" sz="2000" b="1" dirty="0"/>
              <a:t>   </a:t>
            </a:r>
            <a:r>
              <a:rPr lang="en-IN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box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</a:p>
          <a:p>
            <a:pPr fontAlgn="base">
              <a:lnSpc>
                <a:spcPts val="1313"/>
              </a:lnSpc>
            </a:pPr>
            <a:endParaRPr lang="en-IN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pPr fontAlgn="base">
              <a:lnSpc>
                <a:spcPts val="1313"/>
              </a:lnSpc>
            </a:pPr>
            <a:r>
              <a:rPr lang="en-IN" sz="2000" dirty="0">
                <a:latin typeface="Consolas" panose="020B0609020204030204" pitchFamily="49" charset="0"/>
              </a:rPr>
              <a:t> {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border</a:t>
            </a:r>
            <a:r>
              <a:rPr lang="en-IN" sz="2000" dirty="0">
                <a:latin typeface="Consolas" panose="020B0609020204030204" pitchFamily="49" charset="0"/>
              </a:rPr>
              <a:t>: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666666"/>
                </a:solidFill>
                <a:latin typeface="Consolas" panose="020B0609020204030204" pitchFamily="49" charset="0"/>
              </a:rPr>
              <a:t>1</a:t>
            </a:r>
            <a:r>
              <a:rPr lang="en-IN" sz="2000" dirty="0">
                <a:solidFill>
                  <a:srgbClr val="B00040"/>
                </a:solidFill>
                <a:latin typeface="Consolas" panose="020B0609020204030204" pitchFamily="49" charset="0"/>
              </a:rPr>
              <a:t>px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solid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black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latin typeface="Consolas" panose="020B0609020204030204" pitchFamily="49" charset="0"/>
              </a:rPr>
              <a:t> }</a:t>
            </a:r>
          </a:p>
          <a:p>
            <a:endParaRPr lang="en-IN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8E4A4-7A8D-A084-9D78-073BBBD9842D}"/>
              </a:ext>
            </a:extLst>
          </p:cNvPr>
          <p:cNvSpPr txBox="1"/>
          <p:nvPr/>
        </p:nvSpPr>
        <p:spPr>
          <a:xfrm>
            <a:off x="727823" y="5427202"/>
            <a:ext cx="9988826" cy="1651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ID Selector:</a:t>
            </a:r>
            <a:r>
              <a:rPr lang="en-US" dirty="0"/>
              <a:t> Targets a single element with a specific ID.</a:t>
            </a:r>
          </a:p>
          <a:p>
            <a:r>
              <a:rPr lang="en-IN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</a:rPr>
              <a:t>home_box</a:t>
            </a:r>
            <a:endParaRPr lang="en-US" dirty="0"/>
          </a:p>
          <a:p>
            <a:pPr fontAlgn="base">
              <a:lnSpc>
                <a:spcPts val="1313"/>
              </a:lnSpc>
            </a:pPr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pPr fontAlgn="base">
              <a:lnSpc>
                <a:spcPts val="1313"/>
              </a:lnSpc>
            </a:pPr>
            <a:endParaRPr lang="en-IN" sz="2000" dirty="0">
              <a:latin typeface="Consolas" panose="020B0609020204030204" pitchFamily="49" charset="0"/>
            </a:endParaRPr>
          </a:p>
          <a:p>
            <a:pPr fontAlgn="base">
              <a:lnSpc>
                <a:spcPts val="1313"/>
              </a:lnSpc>
            </a:pP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background-color</a:t>
            </a:r>
            <a:r>
              <a:rPr lang="en-IN" sz="2000" dirty="0">
                <a:latin typeface="Consolas" panose="020B0609020204030204" pitchFamily="49" charset="0"/>
              </a:rPr>
              <a:t>:</a:t>
            </a:r>
            <a:r>
              <a:rPr lang="en-IN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skyblue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pPr fontAlgn="base">
              <a:lnSpc>
                <a:spcPts val="1313"/>
              </a:lnSpc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0763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E0DC-511A-B254-3451-90197DF5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EB956A-AFBD-AE95-E351-76358C188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386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PANKAJ KUMAR DAS</dc:creator>
  <cp:lastModifiedBy>PANKAJ KUMAR DAS</cp:lastModifiedBy>
  <cp:revision>20</cp:revision>
  <dcterms:created xsi:type="dcterms:W3CDTF">2025-11-06T07:33:44Z</dcterms:created>
  <dcterms:modified xsi:type="dcterms:W3CDTF">2025-11-06T08:33:33Z</dcterms:modified>
</cp:coreProperties>
</file>