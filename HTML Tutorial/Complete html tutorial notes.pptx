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4" r:id="rId6"/>
    <p:sldId id="262" r:id="rId7"/>
    <p:sldId id="263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350F1B-5459-4AD4-B771-CCAE253440B3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8CAA0-A196-4CD0-8F5A-1773FB9AB7D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3176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49424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7C6F9-89E1-75F8-A675-C2DF9F475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51730-97F6-7FB3-EAF7-9F3D5E145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B1919F-EB48-C092-9974-D3C85911F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F41F7A-3C24-7D4B-E642-16E8D90AFE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40884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B4DBB-B3FA-81B8-96E5-E788C04C7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12DFF-21D2-BB7B-76CE-CCF989027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9EE5A5-62F0-1B11-67AA-30516E297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CAF66-5063-C4D5-EE48-5D9C5AF5E3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98610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A3767-5CE4-2503-3FEF-DA23F2AF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0CF7EE-7981-C240-CE92-EBCE8CFC4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F10D22-3BE9-7024-17B3-372A1B1C55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C8C5E-9DC8-81E4-3298-C6FB94D09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14119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DE827-0798-3C07-384B-FD335DC75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8FF89F-89A5-1817-A273-6DCF9403EB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D13792-8541-FDA2-A85D-DED94C6E4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1E9E3-D10A-9C55-4183-6C60D4B29C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608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36146-5D86-84AD-FFF4-F482892A6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97C142-FF77-249D-E87F-532D91DF49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7934B4-3E14-AB07-6735-5716003AFE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B9AB7-9847-43E4-FED4-FFE60D683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508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B7D9E-1C50-4A26-253A-E6ADD2442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2C7FB1-4132-6E23-7CB0-7ED72AE60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8C5036-8E8B-589D-9C8C-43CA1A3C2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B3DA1-F953-FE3F-F2F3-15D0E6F24E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656669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BBE9D-9DB7-A6B4-2FAA-FDB0AA068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A39206-CBDE-A2D3-7594-5A3E1FF333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EC92CD-052F-B179-B441-35315A650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23A40E-D6EA-A5D2-1C4D-6275C3D2E2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89200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C2C11-57E3-9941-281D-531EF5D47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77A21-1588-110F-5410-3D37D858F5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6BD3B-FBFD-E6DE-FED3-0E11F78DE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5A563-0C64-2198-572C-027845EB8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34470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A45B0-2196-B0F8-3B01-452AE5ABB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522B4A-3ED3-BBBE-561F-B02E5EAF2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BDE7C-BCA0-6074-76C8-DC55CFF285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E7A8E7-36F7-8B4E-6DEF-1F619AE1ED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109209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A2C6D-F275-D42C-1BAF-1723614B0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549CE-B7AA-70BB-798B-8962DF290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8FA5A0-1A53-3E00-CC1A-2978835DF7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B42926-46A4-B642-A527-952322800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F8CAA0-A196-4CD0-8F5A-1773FB9AB7D6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61595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218F1-6297-64EC-960E-B48A1A513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9991FF-534D-5555-73A1-B91CA7FF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436DAC-FDBA-908C-58B9-C3686473F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2291-5AE6-F32F-B005-5B426B600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134BB-1BE2-798A-DA32-6D44EA7866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95191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65E61-FB05-671D-0FF6-225CA7464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49007-99B6-6A4C-6E90-BEB377152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40761-7F00-CEE8-2129-01FF5D221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04A95-97A1-1AB3-E36A-4A51FC373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DD3958-7FE7-9F11-3BF3-F67AE9596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318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66D22-7F8F-B42C-12EF-39A8EB061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136A32-F75A-E8F4-D4F0-08BFB2F8D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A4811F-25A7-AE53-F15C-D2AED2E4F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48B0B-7E90-7A31-2C5A-F43C5D38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FB59F8-28C5-584A-3D6D-2C2E26013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7560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0F748-8F41-2705-D8D6-83A3A5A47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E4F37F-5A17-C00C-1C7F-B6C5BB5593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643357-0281-8F73-242F-E352A69016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D141DF-36F2-F392-C3DF-3360E3F3D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566055-2464-B551-F964-3343EC6CE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55EC90-1FCC-51CB-53FA-8FDF6C6FE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679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877B2-DA18-4F17-DED5-7593DC753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AD878A-4F60-785B-087A-442100122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74ACD7-2CAF-7BC3-8EF8-9F155D73F2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C237E9-9A87-D47D-CA8C-C1B394C2F1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F016D1-C27D-94A0-9B08-B6AF4C6FC0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335302-66DA-9D2B-3F4E-1518E6D44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9C97EE-F5C3-7883-DA7D-B8C8FC813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2DC40D-E77E-64C1-449D-407EFF26D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5674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E31D6-0F42-97ED-30D9-D9A18A528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E3E144-9F6C-3970-C98C-FA876403C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F52359-6D22-10D5-1ECC-49A6596C5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826D3E-22D7-9E7B-826E-442E0472E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453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40508C-26E5-0D1A-14D1-D0F6BB281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9A4079-92AD-812E-146A-63F8446C3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4D56F-4887-7FE3-2618-B8447D9F6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56909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5D872-2EF9-D0A3-CA0C-F7DB24FA2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39011-A4DF-4475-50D7-378B525330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4864D3-80FC-ADF9-CB8B-D7DD44EF1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57C91C-0A5D-3AD5-019B-7BC552790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9CF033-85D7-7061-3ADF-5A22B4FCC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088F04-8C12-A538-A848-BF9AC0125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6885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1F099-317E-B269-E30A-EAEEB0BE3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B311C1-5C5B-2582-850F-577C1DFA7A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AA264-714C-196F-EBE0-64295123B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34FD61-1042-72E9-B66F-A43FA5E8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FD072D-10FD-FA3A-3722-141ED11C2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A7CE7D-32E8-BCA9-B3F5-11786347C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3254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D6941-E24C-0915-1926-E5F6498F5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F5B60A-E90E-07B0-0623-0F001F01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42D77-80ED-9D8D-6E65-7A111F432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54D0C0-FEE9-9A27-BB58-9AA306A92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BCAC7-B2C1-28F1-FBF5-FAEB490DE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6530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C4E879-38FC-3517-3490-3BA4E0CFD1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332375-1809-8AC4-2829-37DF1747D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0ABAD-07E8-60CE-E0A8-F86B3CEF3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43645-457C-D2D6-664F-D182869A0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632A2F-271F-8FC9-6CA3-CF21C202D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107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DAE47A-0F56-F1E8-BD03-6484EA728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6F4D10-8309-CAA7-CE76-CA0D73D45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9991D4-074F-3011-8A7F-1AC44557FE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C20F86-2F36-40CB-BB67-D219B5E1B76D}" type="datetimeFigureOut">
              <a:rPr lang="en-IN" smtClean="0"/>
              <a:t>06-11-2025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9564E-2861-53D3-2C28-36FFA4B597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541AF0-52A9-96BC-C741-F662D2D4F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C0501E-BAB2-4F7C-9A08-B776CAE7D3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7050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hyperlink" Target="https://freepngimg.com/png/77688-logo-computer-youtube-icons-free-hq-image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hyperlink" Target="http://info.cern.ch/hypertext/WWW/TheProject.html" TargetMode="External"/><Relationship Id="rId10" Type="http://schemas.openxmlformats.org/officeDocument/2006/relationships/image" Target="../media/image4.png"/><Relationship Id="rId4" Type="http://schemas.microsoft.com/office/2007/relationships/hdphoto" Target="../media/hdphoto1.wdp"/><Relationship Id="rId9" Type="http://schemas.openxmlformats.org/officeDocument/2006/relationships/hyperlink" Target="http://commons.wikimedia.org/wiki/File:Instagram_logo_2016.svg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microsoft.com/office/2007/relationships/hdphoto" Target="../media/hdphoto2.wdp"/><Relationship Id="rId11" Type="http://schemas.microsoft.com/office/2007/relationships/hdphoto" Target="../media/hdphoto4.wdp"/><Relationship Id="rId5" Type="http://schemas.openxmlformats.org/officeDocument/2006/relationships/image" Target="../media/image5.png"/><Relationship Id="rId10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microsoft.com/office/2007/relationships/hdphoto" Target="../media/hdphoto3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C487314-BD75-BC7A-0F5F-5581D31D5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6475C25-43D7-B105-E46B-4278AF0D72F1}"/>
              </a:ext>
            </a:extLst>
          </p:cNvPr>
          <p:cNvSpPr txBox="1"/>
          <p:nvPr/>
        </p:nvSpPr>
        <p:spPr>
          <a:xfrm>
            <a:off x="585195" y="281265"/>
            <a:ext cx="5886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What is HTML ?  </a:t>
            </a:r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E9C6F1-52AF-6BF2-8167-EE08671BB40A}"/>
              </a:ext>
            </a:extLst>
          </p:cNvPr>
          <p:cNvSpPr txBox="1"/>
          <p:nvPr/>
        </p:nvSpPr>
        <p:spPr>
          <a:xfrm>
            <a:off x="585195" y="1607071"/>
            <a:ext cx="1009296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500" dirty="0">
                <a:highlight>
                  <a:srgbClr val="00FFFF"/>
                </a:highlight>
              </a:rPr>
              <a:t>HTML Stands For HyperText markup language . Which is basically  use for design the structure of a web page.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4BE592-854A-4336-984E-CC8C7A323618}"/>
              </a:ext>
            </a:extLst>
          </p:cNvPr>
          <p:cNvSpPr txBox="1"/>
          <p:nvPr/>
        </p:nvSpPr>
        <p:spPr>
          <a:xfrm>
            <a:off x="585195" y="2992304"/>
            <a:ext cx="10092966" cy="29664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   </a:t>
            </a:r>
            <a:r>
              <a:rPr lang="en-US" sz="200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HTML  tell the browser how to display the web content</a:t>
            </a:r>
            <a:endParaRPr lang="en-US" sz="2000" u="sng" dirty="0">
              <a:effectLst/>
              <a:latin typeface="Roboto" panose="02000000000000000000" pitchFamily="2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sng" dirty="0">
                <a:effectLst/>
                <a:latin typeface="Roboto" panose="02000000000000000000" pitchFamily="2" charset="0"/>
              </a:rPr>
              <a:t>It was created by Sir Tim Berners-Lee in 1991.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sng" dirty="0">
                <a:effectLst/>
                <a:latin typeface="Roboto" panose="02000000000000000000" pitchFamily="2" charset="0"/>
              </a:rPr>
              <a:t>The first version of HTML, known as HTML 1.0, was released in 1993.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sng" dirty="0">
                <a:effectLst/>
                <a:latin typeface="Roboto" panose="02000000000000000000" pitchFamily="2" charset="0"/>
              </a:rPr>
              <a:t>HTML5 is the latest version of the HTML (2017*)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u="sng" dirty="0">
                <a:latin typeface="Roboto" panose="02000000000000000000" pitchFamily="2" charset="0"/>
              </a:rPr>
              <a:t>First website </a:t>
            </a:r>
            <a:r>
              <a:rPr lang="en-US" sz="2000" dirty="0"/>
              <a:t>  </a:t>
            </a:r>
            <a:r>
              <a:rPr lang="en-US" sz="2000" dirty="0">
                <a:hlinkClick r:id="rId5"/>
              </a:rPr>
              <a:t>info.cern.ch </a:t>
            </a:r>
            <a:r>
              <a:rPr lang="en-US" sz="2000" dirty="0"/>
              <a:t>is developed by Tim Berners-Lee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    </a:t>
            </a:r>
            <a:r>
              <a:rPr lang="en-US" sz="2000" b="0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HTML consists of a series of elements (tags)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0" i="0" u="sng" dirty="0">
                <a:solidFill>
                  <a:srgbClr val="000000"/>
                </a:solidFill>
                <a:effectLst/>
                <a:latin typeface="Segoe UI" panose="020B0502040204020203" pitchFamily="34" charset="0"/>
              </a:rPr>
              <a:t>We use HTML Text editors  to create a Web page.</a:t>
            </a:r>
            <a:endParaRPr lang="en-US" sz="2000" u="sng" dirty="0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D01554E-4763-28D0-EA61-9F37460DC976}"/>
              </a:ext>
            </a:extLst>
          </p:cNvPr>
          <p:cNvGrpSpPr/>
          <p:nvPr/>
        </p:nvGrpSpPr>
        <p:grpSpPr>
          <a:xfrm>
            <a:off x="0" y="6238240"/>
            <a:ext cx="12192000" cy="619760"/>
            <a:chOff x="0" y="6266855"/>
            <a:chExt cx="12192000" cy="619760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798D1001-EA3E-83E9-C31E-B2D3B8561355}"/>
                </a:ext>
              </a:extLst>
            </p:cNvPr>
            <p:cNvSpPr/>
            <p:nvPr/>
          </p:nvSpPr>
          <p:spPr>
            <a:xfrm>
              <a:off x="0" y="6266855"/>
              <a:ext cx="12192000" cy="61976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69B3D7A-3945-FDAC-7680-CCAC35CCB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7"/>
                </a:ext>
              </a:extLst>
            </a:blip>
            <a:stretch>
              <a:fillRect/>
            </a:stretch>
          </p:blipFill>
          <p:spPr>
            <a:xfrm>
              <a:off x="427990" y="6360160"/>
              <a:ext cx="455930" cy="402818"/>
            </a:xfrm>
            <a:prstGeom prst="rect">
              <a:avLst/>
            </a:prstGeom>
          </p:spPr>
        </p:pic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39C52E3-813E-971B-F925-2769DD97F620}"/>
                </a:ext>
              </a:extLst>
            </p:cNvPr>
            <p:cNvSpPr txBox="1"/>
            <p:nvPr/>
          </p:nvSpPr>
          <p:spPr>
            <a:xfrm>
              <a:off x="883920" y="6360160"/>
              <a:ext cx="286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@campusxchange_services</a:t>
              </a: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F5AC9D6D-D023-B804-51FB-B38BCE9709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p:blipFill>
          <p:spPr>
            <a:xfrm>
              <a:off x="3823655" y="6348770"/>
              <a:ext cx="455930" cy="45593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03FC5AD-BD38-8004-C59A-0D9FB5E8CE51}"/>
                </a:ext>
              </a:extLst>
            </p:cNvPr>
            <p:cNvSpPr txBox="1"/>
            <p:nvPr/>
          </p:nvSpPr>
          <p:spPr>
            <a:xfrm>
              <a:off x="4377557" y="6392069"/>
              <a:ext cx="286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@campusxchange_services</a:t>
              </a:r>
            </a:p>
          </p:txBody>
        </p:sp>
        <p:pic>
          <p:nvPicPr>
            <p:cNvPr id="3074" name="Picture 2" descr="Facebook Logo, Social Media, Icon PNG Picture">
              <a:extLst>
                <a:ext uri="{FF2B5EF4-FFF2-40B4-BE49-F238E27FC236}">
                  <a16:creationId xmlns:a16="http://schemas.microsoft.com/office/drawing/2014/main" id="{471C5F2E-F3BF-5D61-4C5F-43C8D17835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10084" y="6308976"/>
              <a:ext cx="793156" cy="49572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F07E0955-1642-8C54-5951-0AAC9D339725}"/>
                </a:ext>
              </a:extLst>
            </p:cNvPr>
            <p:cNvSpPr txBox="1"/>
            <p:nvPr/>
          </p:nvSpPr>
          <p:spPr>
            <a:xfrm>
              <a:off x="7928024" y="6392069"/>
              <a:ext cx="28651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@campusxchangeservices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97102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47"/>
    </mc:Choice>
    <mc:Fallback xmlns="">
      <p:transition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2C86E1-4A26-F7F3-5E97-6A494B46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B346F2-2F71-DCC6-F2EB-9F7EDD23BD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300673-4618-B568-76C4-07F57F10BE3E}"/>
              </a:ext>
            </a:extLst>
          </p:cNvPr>
          <p:cNvSpPr txBox="1"/>
          <p:nvPr/>
        </p:nvSpPr>
        <p:spPr>
          <a:xfrm>
            <a:off x="585195" y="281265"/>
            <a:ext cx="5886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HTML Versions ?  </a:t>
            </a:r>
            <a:endParaRPr lang="en-IN" sz="5400" u="sng" dirty="0">
              <a:highlight>
                <a:srgbClr val="FFFF00"/>
              </a:highligh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EF47C51-FC72-A929-56FC-F6D059566B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982600"/>
              </p:ext>
            </p:extLst>
          </p:nvPr>
        </p:nvGraphicFramePr>
        <p:xfrm>
          <a:off x="585195" y="1834895"/>
          <a:ext cx="10515600" cy="3863763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12365710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1686005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31228068"/>
                    </a:ext>
                  </a:extLst>
                </a:gridCol>
              </a:tblGrid>
              <a:tr h="4525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Version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Year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Features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4354754"/>
                  </a:ext>
                </a:extLst>
              </a:tr>
              <a:tr h="4525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HTML 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1991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Basic text and links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15811"/>
                  </a:ext>
                </a:extLst>
              </a:tr>
              <a:tr h="4525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HTML 2.0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1995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Forms and basic layout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6799617"/>
                  </a:ext>
                </a:extLst>
              </a:tr>
              <a:tr h="4525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HTML 3.2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1997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Tables, images, font styling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8320075"/>
                  </a:ext>
                </a:extLst>
              </a:tr>
              <a:tr h="800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HTML 4.01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1999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CSS integration, better structure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7664365"/>
                  </a:ext>
                </a:extLst>
              </a:tr>
              <a:tr h="4525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XHTML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2000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XML-based strict HTML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1826756"/>
                  </a:ext>
                </a:extLst>
              </a:tr>
              <a:tr h="800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>
                          <a:latin typeface="+mn-lt"/>
                        </a:rPr>
                        <a:t>HTML5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>
                          <a:latin typeface="+mn-lt"/>
                        </a:rPr>
                        <a:t>2017–Now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it-IT" sz="2000" dirty="0">
                          <a:latin typeface="+mn-lt"/>
                        </a:rPr>
                        <a:t>Multimedia, semantic tags, mobile support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962163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821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4B481-D7BD-E59E-1F17-815DBD2F0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44BB93E-2F76-2AE4-8526-4D74A394A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23DE808-0CA5-7C92-F136-03C5988C0D14}"/>
              </a:ext>
            </a:extLst>
          </p:cNvPr>
          <p:cNvSpPr txBox="1"/>
          <p:nvPr/>
        </p:nvSpPr>
        <p:spPr>
          <a:xfrm>
            <a:off x="585195" y="178760"/>
            <a:ext cx="5886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Features of HTML   </a:t>
            </a:r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8B96DC3-9C1C-1E0E-F769-E7628169D8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720" y="1132797"/>
            <a:ext cx="9235440" cy="5021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Simple and Easy to Learn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Platform Independent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Supports Hyperlinks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Allows Multimedia Integration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Provides a Structured Document Format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Works with CSS and JavaScript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Fast and Lightweight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Open Source and Free to Use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Supports Responsive Web Design</a:t>
            </a:r>
          </a:p>
        </p:txBody>
      </p:sp>
    </p:spTree>
    <p:extLst>
      <p:ext uri="{BB962C8B-B14F-4D97-AF65-F5344CB8AC3E}">
        <p14:creationId xmlns:p14="http://schemas.microsoft.com/office/powerpoint/2010/main" val="4074056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14A703-AA41-B646-056A-EC5C48A9E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E3278A6-3007-2F7C-322A-088FAA44E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D1E4CE-70C2-C3E1-5C3E-AC784030A439}"/>
              </a:ext>
            </a:extLst>
          </p:cNvPr>
          <p:cNvSpPr txBox="1"/>
          <p:nvPr/>
        </p:nvSpPr>
        <p:spPr>
          <a:xfrm>
            <a:off x="585195" y="178760"/>
            <a:ext cx="5886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HTML Text Editors   </a:t>
            </a:r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99FA9C-ECE8-04ED-2B4D-D5459B33C5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" y="2682580"/>
            <a:ext cx="9235440" cy="18721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altLang="en-US" sz="2400" dirty="0"/>
              <a:t>Notepad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No</a:t>
            </a:r>
            <a:r>
              <a:rPr lang="en-US" altLang="en-US" sz="2400" dirty="0"/>
              <a:t>tepad++ OR </a:t>
            </a:r>
            <a:r>
              <a:rPr lang="en-US" altLang="en-US" sz="2800" dirty="0"/>
              <a:t>Sublime Text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V</a:t>
            </a:r>
            <a:r>
              <a:rPr lang="en-US" altLang="en-US" sz="2800" dirty="0"/>
              <a:t>isual Studio Code </a:t>
            </a: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pic>
        <p:nvPicPr>
          <p:cNvPr id="4098" name="Picture 2" descr="Dale Burke: Let's Talk Tech.......">
            <a:extLst>
              <a:ext uri="{FF2B5EF4-FFF2-40B4-BE49-F238E27FC236}">
                <a16:creationId xmlns:a16="http://schemas.microsoft.com/office/drawing/2014/main" id="{F4CDB70F-A2CF-8A03-CE9C-29A6B70EC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4911509"/>
            <a:ext cx="2088445" cy="1468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06. The Tools | Mr. Cruwys">
            <a:extLst>
              <a:ext uri="{FF2B5EF4-FFF2-40B4-BE49-F238E27FC236}">
                <a16:creationId xmlns:a16="http://schemas.microsoft.com/office/drawing/2014/main" id="{2DF4CA14-7CFE-325E-DFAD-0DD054EDFF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5613" y="4784943"/>
            <a:ext cx="1467560" cy="1467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Sublime Text Logo">
            <a:extLst>
              <a:ext uri="{FF2B5EF4-FFF2-40B4-BE49-F238E27FC236}">
                <a16:creationId xmlns:a16="http://schemas.microsoft.com/office/drawing/2014/main" id="{7C484771-B387-54B0-F6E0-E3C340D7EE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53" r="20447" b="26769"/>
          <a:stretch>
            <a:fillRect/>
          </a:stretch>
        </p:blipFill>
        <p:spPr bwMode="auto">
          <a:xfrm>
            <a:off x="5208741" y="4784943"/>
            <a:ext cx="2709238" cy="20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Visual Studio Code SVG Logo – Free Vectors">
            <a:extLst>
              <a:ext uri="{FF2B5EF4-FFF2-40B4-BE49-F238E27FC236}">
                <a16:creationId xmlns:a16="http://schemas.microsoft.com/office/drawing/2014/main" id="{9E090692-5359-C6B8-E481-D3318CF801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797" r="16282"/>
          <a:stretch>
            <a:fillRect/>
          </a:stretch>
        </p:blipFill>
        <p:spPr bwMode="auto">
          <a:xfrm>
            <a:off x="8191002" y="4167443"/>
            <a:ext cx="3119120" cy="2702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73A03F0-CE81-33CF-78C7-C034E0AC4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040" y="986361"/>
            <a:ext cx="9235440" cy="16970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sz="2400" dirty="0"/>
              <a:t>A </a:t>
            </a:r>
            <a:r>
              <a:rPr lang="en-US" sz="2400" b="1" dirty="0"/>
              <a:t>HTML text editor</a:t>
            </a:r>
            <a:r>
              <a:rPr lang="en-US" sz="2400" dirty="0"/>
              <a:t> is a software application used to write, edit, and save HTML code. It allows developers to create web pages using plain text files with the </a:t>
            </a:r>
            <a:r>
              <a:rPr lang="en-US" sz="2400" b="1" dirty="0"/>
              <a:t>.html</a:t>
            </a:r>
            <a:r>
              <a:rPr lang="en-US" sz="2400" dirty="0"/>
              <a:t> extension.</a:t>
            </a:r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789351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2352B-03A9-6649-8C9F-3F044E158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301094-0480-EF42-0E7D-35950E7027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83542E-E9E4-7508-C16A-07EA61A1A0A8}"/>
              </a:ext>
            </a:extLst>
          </p:cNvPr>
          <p:cNvSpPr txBox="1"/>
          <p:nvPr/>
        </p:nvSpPr>
        <p:spPr>
          <a:xfrm>
            <a:off x="585195" y="178760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</a:t>
            </a:r>
            <a:r>
              <a:rPr lang="en-US" sz="4400" u="sng" dirty="0">
                <a:highlight>
                  <a:srgbClr val="FFFF00"/>
                </a:highlight>
              </a:rPr>
              <a:t>Structure of HTML Program  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BA85BB-4549-3500-2C68-3BA77A2F1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1176" y="1256990"/>
            <a:ext cx="10099040" cy="550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600" dirty="0"/>
              <a:t>&lt;!DOCTYPE html&gt;       </a:t>
            </a:r>
          </a:p>
          <a:p>
            <a:r>
              <a:rPr lang="en-IN" sz="1600" dirty="0"/>
              <a:t>&lt;html&gt;</a:t>
            </a:r>
          </a:p>
          <a:p>
            <a:r>
              <a:rPr lang="en-IN" sz="1600" dirty="0"/>
              <a:t>&lt;head&gt;</a:t>
            </a:r>
          </a:p>
          <a:p>
            <a:r>
              <a:rPr lang="en-IN" sz="1600" dirty="0"/>
              <a:t>    &lt;title&gt;Hello HTML Program &lt;/title&gt;</a:t>
            </a:r>
          </a:p>
          <a:p>
            <a:r>
              <a:rPr lang="en-IN" sz="1600" dirty="0"/>
              <a:t>&lt;/head&gt;</a:t>
            </a:r>
          </a:p>
          <a:p>
            <a:r>
              <a:rPr lang="en-IN" sz="1600" dirty="0"/>
              <a:t>&lt;body&gt;</a:t>
            </a:r>
          </a:p>
          <a:p>
            <a:r>
              <a:rPr lang="en-IN" sz="1600" dirty="0"/>
              <a:t>    Hello HTML </a:t>
            </a:r>
          </a:p>
          <a:p>
            <a:r>
              <a:rPr lang="en-IN" sz="1600" dirty="0"/>
              <a:t>&lt;/body&gt;</a:t>
            </a:r>
          </a:p>
          <a:p>
            <a:r>
              <a:rPr lang="en-IN" sz="1600" dirty="0"/>
              <a:t>&lt;/html&gt;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IN" b="1" dirty="0"/>
              <a:t>&lt;!--!DOCTYPE HTML&gt; : </a:t>
            </a:r>
            <a:r>
              <a:rPr lang="en-IN" dirty="0">
                <a:solidFill>
                  <a:srgbClr val="C00000"/>
                </a:solidFill>
              </a:rPr>
              <a:t>it define document type and the latest version HTML5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IN" b="1" dirty="0"/>
              <a:t>&lt;html&gt; :  </a:t>
            </a:r>
            <a:r>
              <a:rPr lang="en-IN" dirty="0">
                <a:solidFill>
                  <a:srgbClr val="C00000"/>
                </a:solidFill>
              </a:rPr>
              <a:t>Starting point of html program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IN" b="1" dirty="0"/>
              <a:t>&lt;head&gt;&lt;/head&gt; :  </a:t>
            </a:r>
            <a:r>
              <a:rPr lang="en-IN" dirty="0">
                <a:solidFill>
                  <a:srgbClr val="C00000"/>
                </a:solidFill>
              </a:rPr>
              <a:t>it contains metadata (information about page content) and external links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IN" b="1" dirty="0"/>
              <a:t>&lt;title&gt;&lt;/title&gt; </a:t>
            </a:r>
            <a:r>
              <a:rPr lang="en-IN" b="1" dirty="0">
                <a:solidFill>
                  <a:srgbClr val="C00000"/>
                </a:solidFill>
              </a:rPr>
              <a:t>: </a:t>
            </a:r>
            <a:r>
              <a:rPr lang="en-IN" dirty="0">
                <a:solidFill>
                  <a:srgbClr val="C00000"/>
                </a:solidFill>
              </a:rPr>
              <a:t>it contains title of your page which display as a tab name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IN" b="1" dirty="0"/>
              <a:t>&lt;body&gt; &lt;/body&gt; </a:t>
            </a:r>
            <a:r>
              <a:rPr lang="en-IN" b="1" dirty="0">
                <a:solidFill>
                  <a:srgbClr val="C00000"/>
                </a:solidFill>
              </a:rPr>
              <a:t>: </a:t>
            </a:r>
            <a:r>
              <a:rPr lang="en-IN" dirty="0">
                <a:solidFill>
                  <a:srgbClr val="C00000"/>
                </a:solidFill>
              </a:rPr>
              <a:t>Inside this we write our all page </a:t>
            </a:r>
            <a:r>
              <a:rPr lang="en-IN" b="1" dirty="0">
                <a:solidFill>
                  <a:srgbClr val="C00000"/>
                </a:solidFill>
              </a:rPr>
              <a:t>elements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IN" b="1" dirty="0"/>
              <a:t>&lt;/html&gt; : </a:t>
            </a:r>
            <a:r>
              <a:rPr lang="en-IN" dirty="0">
                <a:solidFill>
                  <a:srgbClr val="C00000"/>
                </a:solidFill>
              </a:rPr>
              <a:t>Ending point of html program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endParaRPr lang="en-IN" sz="1600" dirty="0">
              <a:solidFill>
                <a:srgbClr val="00B050"/>
              </a:solidFill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6969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FD474-5950-9BC0-0D64-33A11A1F9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0351D46-D56D-D10E-17CA-D04CC8DF2D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6DBDB0-3D7F-42C0-A6F9-BC32C66CFF97}"/>
              </a:ext>
            </a:extLst>
          </p:cNvPr>
          <p:cNvSpPr txBox="1"/>
          <p:nvPr/>
        </p:nvSpPr>
        <p:spPr>
          <a:xfrm>
            <a:off x="585195" y="178760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First Program in HTML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825C04-4F13-E237-0920-A2338E80A2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720" y="1686797"/>
            <a:ext cx="10099040" cy="39130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altLang="en-US" sz="2400" dirty="0"/>
              <a:t>Open Notepad in your PC if not installed download from official website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Press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en-US" altLang="en-US" sz="2400" dirty="0">
                <a:solidFill>
                  <a:schemeClr val="bg1"/>
                </a:solidFill>
                <a:highlight>
                  <a:srgbClr val="000000"/>
                </a:highlight>
              </a:rPr>
              <a:t>C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  <a:highlight>
                  <a:srgbClr val="000000"/>
                </a:highlight>
              </a:rPr>
              <a:t>trl+N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</a:rPr>
              <a:t> 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to create a new File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altLang="en-US" sz="2400" dirty="0"/>
              <a:t>Save with </a:t>
            </a:r>
            <a:r>
              <a:rPr lang="en-US" altLang="en-US" sz="2400" dirty="0">
                <a:highlight>
                  <a:srgbClr val="C0C0C0"/>
                </a:highlight>
              </a:rPr>
              <a:t>.html or .htm </a:t>
            </a:r>
            <a:r>
              <a:rPr lang="en-US" altLang="en-US" sz="2400" dirty="0"/>
              <a:t>Extension in any Location (Best in Desktop)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altLang="en-US" sz="2400" dirty="0"/>
              <a:t>Write your code in this File 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Once</a:t>
            </a:r>
            <a:r>
              <a:rPr kumimoji="0" lang="en-US" altLang="en-US" sz="24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you wrote your code go to the outside of texeditor and open the File 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tabLst>
                <a:tab pos="803275" algn="l"/>
              </a:tabLst>
            </a:pPr>
            <a:r>
              <a:rPr lang="en-US" altLang="en-US" sz="2400" baseline="0" dirty="0"/>
              <a:t>You</a:t>
            </a:r>
            <a:r>
              <a:rPr lang="en-US" altLang="en-US" sz="2400" dirty="0"/>
              <a:t> can see your Output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4298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0F2A69-7E58-D6C2-69C0-079AAA95E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C1ED6ED-CC26-D4D9-941C-22F1EB797A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190FCC-E1DC-29B6-923C-30A8378DC088}"/>
              </a:ext>
            </a:extLst>
          </p:cNvPr>
          <p:cNvSpPr txBox="1"/>
          <p:nvPr/>
        </p:nvSpPr>
        <p:spPr>
          <a:xfrm>
            <a:off x="585195" y="178760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Hello.html program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1F700C-2377-0F94-D746-D8E0C7EE2A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8337" y="1455207"/>
            <a:ext cx="10099040" cy="50210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2400" dirty="0"/>
              <a:t>&lt;!DOCTYPE html&gt;      </a:t>
            </a:r>
          </a:p>
          <a:p>
            <a:r>
              <a:rPr lang="en-IN" sz="2400" dirty="0">
                <a:solidFill>
                  <a:srgbClr val="00B050"/>
                </a:solidFill>
              </a:rPr>
              <a:t>&lt;!--!DOCTYPE  define the latest version HTML5 --&gt;</a:t>
            </a:r>
          </a:p>
          <a:p>
            <a:r>
              <a:rPr lang="en-IN" sz="2400" dirty="0"/>
              <a:t>&lt;html&gt;</a:t>
            </a:r>
          </a:p>
          <a:p>
            <a:r>
              <a:rPr lang="en-IN" sz="2400" dirty="0"/>
              <a:t>&lt;head&gt;</a:t>
            </a:r>
          </a:p>
          <a:p>
            <a:r>
              <a:rPr lang="en-IN" sz="2400" dirty="0"/>
              <a:t>    </a:t>
            </a:r>
            <a:r>
              <a:rPr lang="en-IN" sz="2400" dirty="0">
                <a:solidFill>
                  <a:srgbClr val="00B050"/>
                </a:solidFill>
              </a:rPr>
              <a:t>&lt;meta charset="UTF-8"&gt;</a:t>
            </a:r>
          </a:p>
          <a:p>
            <a:r>
              <a:rPr lang="en-IN" sz="2400" dirty="0">
                <a:solidFill>
                  <a:srgbClr val="00B050"/>
                </a:solidFill>
              </a:rPr>
              <a:t>    &lt;meta name="viewport" content="width=device-width, initial-scale=1.0"&gt;</a:t>
            </a:r>
          </a:p>
          <a:p>
            <a:r>
              <a:rPr lang="en-IN" sz="2400" dirty="0"/>
              <a:t>    &lt;title&gt;Hello HTML Program &lt;/title&gt;</a:t>
            </a:r>
          </a:p>
          <a:p>
            <a:r>
              <a:rPr lang="en-IN" sz="2400" dirty="0"/>
              <a:t>&lt;/head&gt;</a:t>
            </a:r>
          </a:p>
          <a:p>
            <a:r>
              <a:rPr lang="en-IN" sz="2400" dirty="0"/>
              <a:t>&lt;body&gt;</a:t>
            </a:r>
          </a:p>
          <a:p>
            <a:r>
              <a:rPr lang="en-IN" sz="2400" dirty="0"/>
              <a:t>    Hello HTML </a:t>
            </a:r>
          </a:p>
          <a:p>
            <a:r>
              <a:rPr lang="en-IN" sz="2400" dirty="0"/>
              <a:t>&lt;/body&gt;</a:t>
            </a:r>
          </a:p>
          <a:p>
            <a:r>
              <a:rPr lang="en-IN" sz="2400" dirty="0"/>
              <a:t>&lt;/html&gt;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6335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D7487C-8BD8-BD80-576C-BE463E4E9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91CBB5C-CB12-ABAF-B5AC-15331072AE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E37F91-ACFF-9DE9-C406-7A1DA6947C14}"/>
              </a:ext>
            </a:extLst>
          </p:cNvPr>
          <p:cNvSpPr txBox="1"/>
          <p:nvPr/>
        </p:nvSpPr>
        <p:spPr>
          <a:xfrm>
            <a:off x="585195" y="178760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HTML Comments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89C8E2-21FA-C98D-DE21-EF73CF101D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8461" y="2778847"/>
            <a:ext cx="6476557" cy="35437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600" dirty="0"/>
              <a:t>&lt;!DOCTYPE html&gt;      </a:t>
            </a:r>
          </a:p>
          <a:p>
            <a:r>
              <a:rPr lang="en-IN" sz="1600" dirty="0"/>
              <a:t>&lt;html&gt;</a:t>
            </a:r>
          </a:p>
          <a:p>
            <a:r>
              <a:rPr lang="en-IN" sz="1600" dirty="0"/>
              <a:t>&lt;head&gt;</a:t>
            </a:r>
          </a:p>
          <a:p>
            <a:r>
              <a:rPr lang="en-IN" sz="1600" dirty="0"/>
              <a:t>&lt;meta charset="UTF-8"&gt;</a:t>
            </a:r>
          </a:p>
          <a:p>
            <a:r>
              <a:rPr lang="en-IN" sz="1600" dirty="0"/>
              <a:t>&lt;meta name="viewport" content="width=device-width, initial-scale=1.0"&gt;</a:t>
            </a:r>
          </a:p>
          <a:p>
            <a:r>
              <a:rPr lang="en-IN" sz="1600" dirty="0"/>
              <a:t> &lt;title&gt;Hello HTML Program &lt;/title&gt;</a:t>
            </a:r>
          </a:p>
          <a:p>
            <a:r>
              <a:rPr lang="en-IN" sz="1600" dirty="0"/>
              <a:t>&lt;/head&gt;</a:t>
            </a:r>
          </a:p>
          <a:p>
            <a:r>
              <a:rPr lang="en-IN" sz="1600" dirty="0"/>
              <a:t>&lt;body&gt;</a:t>
            </a:r>
          </a:p>
          <a:p>
            <a:r>
              <a:rPr lang="en-US" altLang="en-US" sz="1600" dirty="0">
                <a:solidFill>
                  <a:schemeClr val="accent2">
                    <a:lumMod val="50000"/>
                  </a:schemeClr>
                </a:solidFill>
              </a:rPr>
              <a:t>&lt;!--  this is a basic HTML Program</a:t>
            </a:r>
            <a:r>
              <a:rPr lang="en-US" altLang="en-US" sz="1600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--&gt;</a:t>
            </a:r>
            <a:endParaRPr lang="en-IN" sz="1600" dirty="0"/>
          </a:p>
          <a:p>
            <a:r>
              <a:rPr lang="en-IN" sz="1600" dirty="0"/>
              <a:t>    Hello HTML </a:t>
            </a:r>
          </a:p>
          <a:p>
            <a:r>
              <a:rPr lang="en-IN" sz="1600" dirty="0"/>
              <a:t>&lt;/body&gt;</a:t>
            </a:r>
          </a:p>
          <a:p>
            <a:r>
              <a:rPr lang="en-IN" sz="1600" dirty="0"/>
              <a:t>&lt;/html&gt;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EA7A74-5C08-F16A-3375-2B433CE44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963" y="968824"/>
            <a:ext cx="10099040" cy="1143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2400" dirty="0">
                <a:highlight>
                  <a:srgbClr val="00FFFF"/>
                </a:highlight>
              </a:rPr>
              <a:t>It is used to add notes or explanations about the code and it doesn’t display in the webpage.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00FFFF"/>
              </a:highlight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E36DDF-252E-50D4-205E-9C29E72E5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8041" y="1660067"/>
            <a:ext cx="5821902" cy="17113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Syntax:  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>
                <a:solidFill>
                  <a:schemeClr val="accent2">
                    <a:lumMod val="50000"/>
                  </a:schemeClr>
                </a:solidFill>
              </a:rPr>
              <a:t>&lt;!--  Hello I am  single line comments and </a:t>
            </a:r>
            <a:r>
              <a:rPr lang="en-US" altLang="en-US" dirty="0">
                <a:solidFill>
                  <a:schemeClr val="accent2">
                    <a:lumMod val="50000"/>
                  </a:schemeClr>
                </a:solidFill>
                <a:sym typeface="Wingdings" panose="05000000000000000000" pitchFamily="2" charset="2"/>
              </a:rPr>
              <a:t>--&gt;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sym typeface="Wingdings" panose="05000000000000000000" pitchFamily="2" charset="2"/>
              </a:rPr>
              <a:t>&lt;!– Hello We are multi-line comments and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accent6">
                    <a:lumMod val="50000"/>
                  </a:schemeClr>
                </a:solidFill>
                <a:effectLst/>
                <a:sym typeface="Wingdings" panose="05000000000000000000" pitchFamily="2" charset="2"/>
              </a:rPr>
              <a:t> we don’t display on browser screen. --&gt;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accent6">
                  <a:lumMod val="5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5805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9CFF9B-7AC0-4BB0-DA66-7F8702C81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A215CD5-599D-F06B-9DCD-A292CFD860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D68278-CAE4-0D3F-E718-9DDE298670B0}"/>
              </a:ext>
            </a:extLst>
          </p:cNvPr>
          <p:cNvSpPr txBox="1"/>
          <p:nvPr/>
        </p:nvSpPr>
        <p:spPr>
          <a:xfrm>
            <a:off x="585195" y="248334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HTML Elements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2D031F-9443-3C29-7A89-0CB19EB29A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7731" y="3344959"/>
            <a:ext cx="6476557" cy="32975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IN" sz="1600" dirty="0"/>
              <a:t>&lt;!DOCTYPE html&gt;      </a:t>
            </a:r>
          </a:p>
          <a:p>
            <a:r>
              <a:rPr lang="en-IN" sz="1600" dirty="0"/>
              <a:t>&lt;html&gt;</a:t>
            </a:r>
          </a:p>
          <a:p>
            <a:r>
              <a:rPr lang="en-IN" sz="1600" dirty="0"/>
              <a:t>&lt;head&gt;</a:t>
            </a:r>
          </a:p>
          <a:p>
            <a:r>
              <a:rPr lang="en-IN" sz="1600" dirty="0"/>
              <a:t>&lt;meta charset="UTF-8"&gt;</a:t>
            </a:r>
          </a:p>
          <a:p>
            <a:r>
              <a:rPr lang="en-IN" sz="1600" dirty="0"/>
              <a:t>&lt;meta name="viewport" content="width=device-width, initial-scale=1.0"&gt;</a:t>
            </a:r>
          </a:p>
          <a:p>
            <a:r>
              <a:rPr lang="en-IN" sz="1600" dirty="0"/>
              <a:t> &lt;title&gt;Hello HTML Elements&lt;/title&gt;</a:t>
            </a:r>
          </a:p>
          <a:p>
            <a:r>
              <a:rPr lang="en-IN" sz="1600" dirty="0"/>
              <a:t>&lt;/head&gt;</a:t>
            </a:r>
          </a:p>
          <a:p>
            <a:r>
              <a:rPr lang="en-IN" sz="1600" dirty="0"/>
              <a:t>&lt;body&gt;</a:t>
            </a:r>
          </a:p>
          <a:p>
            <a:r>
              <a:rPr lang="en-IN" sz="1600" dirty="0"/>
              <a:t>&lt;p&gt;I am a paragraph &lt;/p&gt;</a:t>
            </a:r>
          </a:p>
          <a:p>
            <a:r>
              <a:rPr lang="en-IN" sz="1600" dirty="0"/>
              <a:t>&lt;/body&gt;</a:t>
            </a:r>
          </a:p>
          <a:p>
            <a:r>
              <a:rPr lang="en-IN" sz="1600" dirty="0"/>
              <a:t>&lt;/html&gt;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76D3C4-41BB-B3CA-572A-E0304F7C0E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963" y="1245823"/>
            <a:ext cx="10099040" cy="5890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sz="2400" dirty="0">
                <a:highlight>
                  <a:srgbClr val="00FFFF"/>
                </a:highlight>
              </a:rPr>
              <a:t>An HTML element is collection of a start tag, some content, and an end tag.</a:t>
            </a: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00FFFF"/>
              </a:highligh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84C88E-505B-BCC6-7D9C-AC51B593A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963" y="1752084"/>
            <a:ext cx="10099040" cy="7546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3200" dirty="0"/>
              <a:t>Syntax: </a:t>
            </a:r>
            <a:r>
              <a:rPr lang="en-IN" sz="3200" b="1" dirty="0">
                <a:latin typeface="Segoe UI" panose="020B0502040204020203" pitchFamily="34" charset="0"/>
              </a:rPr>
              <a:t>&lt;tagname&gt;</a:t>
            </a:r>
            <a:r>
              <a:rPr lang="en-IN" sz="3200" dirty="0">
                <a:latin typeface="Segoe UI" panose="020B0502040204020203" pitchFamily="34" charset="0"/>
              </a:rPr>
              <a:t>content</a:t>
            </a:r>
            <a:r>
              <a:rPr lang="en-IN" sz="3200" b="1" dirty="0">
                <a:latin typeface="Segoe UI" panose="020B0502040204020203" pitchFamily="34" charset="0"/>
              </a:rPr>
              <a:t>&lt;/tagname&gt;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effectLst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9AC919-496A-AE2C-599D-9E00B92E3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3963" y="2506778"/>
            <a:ext cx="10099040" cy="7546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sz="3200" dirty="0"/>
              <a:t>Example: </a:t>
            </a:r>
            <a:r>
              <a:rPr lang="en-IN" sz="3200" b="1" dirty="0">
                <a:latin typeface="Segoe UI" panose="020B0502040204020203" pitchFamily="34" charset="0"/>
              </a:rPr>
              <a:t>&lt;p&gt;</a:t>
            </a:r>
            <a:r>
              <a:rPr lang="en-IN" sz="3200" dirty="0">
                <a:latin typeface="Segoe UI" panose="020B0502040204020203" pitchFamily="34" charset="0"/>
              </a:rPr>
              <a:t>I am a paragraph </a:t>
            </a:r>
            <a:r>
              <a:rPr lang="en-IN" sz="3200" b="1" dirty="0">
                <a:latin typeface="Segoe UI" panose="020B0502040204020203" pitchFamily="34" charset="0"/>
              </a:rPr>
              <a:t>&lt;/p&gt;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72554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B4E431-B9E8-97AA-9604-03662FB2E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EF4DD18-2162-6571-EC8F-554CCEAA44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7DF9AA8-9B21-D558-EDE8-24D85319FD5D}"/>
              </a:ext>
            </a:extLst>
          </p:cNvPr>
          <p:cNvSpPr txBox="1"/>
          <p:nvPr/>
        </p:nvSpPr>
        <p:spPr>
          <a:xfrm>
            <a:off x="692867" y="202165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Types of Elements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1B771F-F370-498E-5083-EE2EAFD2B9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867" y="1117396"/>
            <a:ext cx="10099040" cy="4661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914400" lvl="1" indent="-4572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+mj-lt"/>
              <a:buAutoNum type="arabicPeriod"/>
              <a:tabLst>
                <a:tab pos="803275" algn="l"/>
              </a:tabLs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</a:rPr>
              <a:t>1. Block</a:t>
            </a:r>
            <a:r>
              <a:rPr lang="en-US" altLang="en-US" sz="2000" dirty="0">
                <a:highlight>
                  <a:srgbClr val="00FFFF"/>
                </a:highlight>
              </a:rPr>
              <a:t>-level  Elements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2000" dirty="0"/>
              <a:t>These elements start on a new line and occupy the full available with of their parent container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2000" dirty="0"/>
              <a:t>Example: &lt;div&gt;&lt;/div&gt; , &lt;p&gt;&lt;/p&gt; , &lt;h1&gt;&lt;/h1&gt; , &lt;ul&gt;&lt;/ul&gt; , &lt;table&gt;&lt;/table&gt; , &lt;form&gt;&lt;/form&gt; etc.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2000" dirty="0">
                <a:highlight>
                  <a:srgbClr val="00FFFF"/>
                </a:highlight>
              </a:rPr>
              <a:t>2. Inline Elements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2000" dirty="0"/>
              <a:t>These elements do not start on a new line and only take up as much width as their content requires.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sz="2000" dirty="0"/>
              <a:t>Example: &lt;span&gt;&lt;/span&gt; , &lt;a&gt;&lt;/a&gt; , &lt;strong&gt;&lt;/strong&gt; , &lt;</a:t>
            </a:r>
            <a:r>
              <a:rPr lang="en-US" altLang="en-US" sz="2000" dirty="0" err="1"/>
              <a:t>img</a:t>
            </a:r>
            <a:r>
              <a:rPr lang="en-US" altLang="en-US" sz="2000" dirty="0"/>
              <a:t>&gt; , &lt;button&gt;&lt;button&gt; </a:t>
            </a:r>
          </a:p>
        </p:txBody>
      </p:sp>
    </p:spTree>
    <p:extLst>
      <p:ext uri="{BB962C8B-B14F-4D97-AF65-F5344CB8AC3E}">
        <p14:creationId xmlns:p14="http://schemas.microsoft.com/office/powerpoint/2010/main" val="3626227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5">
          <a:fgClr>
            <a:schemeClr val="accent1"/>
          </a:fgClr>
          <a:bgClr>
            <a:schemeClr val="bg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7BF380-868A-A95E-70C2-FF127525E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AE8FA2E-0DDF-084B-99F8-D594F443F4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28417" y1="45552" x2="25899" y2="49466"/>
                        <a14:foregroundMark x1="39928" y1="46619" x2="58993" y2="51601"/>
                        <a14:foregroundMark x1="61871" y1="48754" x2="56835" y2="48399"/>
                        <a14:foregroundMark x1="61871" y1="48043" x2="32014" y2="33096"/>
                        <a14:foregroundMark x1="32014" y1="33096" x2="33453" y2="50890"/>
                        <a14:foregroundMark x1="38849" y1="45196" x2="21583" y2="46263"/>
                        <a14:foregroundMark x1="34892" y1="45907" x2="33453" y2="46619"/>
                        <a14:foregroundMark x1="55396" y1="42705" x2="71583" y2="4484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71760" y="-264241"/>
            <a:ext cx="2076725" cy="20991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51047D-F91D-EB52-EDDB-2C54A72A6076}"/>
              </a:ext>
            </a:extLst>
          </p:cNvPr>
          <p:cNvSpPr txBox="1"/>
          <p:nvPr/>
        </p:nvSpPr>
        <p:spPr>
          <a:xfrm>
            <a:off x="692867" y="202165"/>
            <a:ext cx="77040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u="sng" dirty="0">
                <a:highlight>
                  <a:srgbClr val="FFFF00"/>
                </a:highlight>
              </a:rPr>
              <a:t> HTML tags</a:t>
            </a:r>
            <a:endParaRPr lang="en-IN" sz="5400" u="sng" dirty="0">
              <a:highlight>
                <a:srgbClr val="FFFF00"/>
              </a:highlight>
            </a:endParaRPr>
          </a:p>
          <a:p>
            <a:endParaRPr lang="en-IN" sz="5400" u="sng" dirty="0">
              <a:highlight>
                <a:srgbClr val="FFFF00"/>
              </a:highlight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60E8C0-61A4-8FEE-DE19-B65D49E93A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45" y="1228533"/>
            <a:ext cx="10099040" cy="50353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HTML tags are the basic building blocks of a web page . It</a:t>
            </a:r>
            <a:r>
              <a:rPr kumimoji="0" lang="en-US" altLang="en-US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written inside angle brackets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 &lt; &gt; that tell the browser how </a:t>
            </a:r>
            <a:r>
              <a:rPr lang="en-US" altLang="en-US" b="1" dirty="0"/>
              <a:t>t</a:t>
            </a:r>
            <a:r>
              <a:rPr kumimoji="0" lang="en-US" altLang="en-US" b="1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</a:rPr>
              <a:t>o display content on a webpage.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b="1" baseline="0" dirty="0"/>
              <a:t>Example: </a:t>
            </a:r>
            <a:r>
              <a:rPr lang="en-US" altLang="en-US" dirty="0"/>
              <a:t>&lt;div&gt;&lt;/div&gt; , &lt;p&gt;&lt;/p&gt; , &lt;h1&gt;&lt;/h1&gt; , &lt;ul&gt;&lt;/ul&gt; , &lt;span&gt;&lt;/span&gt; , &lt;a&gt;&lt;/a&gt; , &lt;strong&gt;&lt;/strong&gt; 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00FFFF"/>
                </a:highlight>
              </a:rPr>
              <a:t>1. </a:t>
            </a:r>
            <a:r>
              <a:rPr lang="en-US" altLang="en-US" dirty="0">
                <a:highlight>
                  <a:srgbClr val="00FFFF"/>
                </a:highlight>
              </a:rPr>
              <a:t>Paired tags(open-close tag)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/>
              <a:t>These tags always come in two parts – an opening tag &lt;&gt; and a closing tag &lt;/&gt; 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/>
              <a:t>Example:  &lt;p&gt; Hello HTML !!&lt;/p&gt; , &lt;b&gt; bold text &lt;/b&gt;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>
                <a:highlight>
                  <a:srgbClr val="00FFFF"/>
                </a:highlight>
              </a:rPr>
              <a:t>2. Unpaired tags (open tag&gt;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/>
              <a:t>These tags are single and don’t need a closing tag because they don’t wrap any content.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/>
              <a:t>Example: &lt;</a:t>
            </a:r>
            <a:r>
              <a:rPr lang="en-US" altLang="en-US" dirty="0" err="1"/>
              <a:t>br</a:t>
            </a:r>
            <a:r>
              <a:rPr lang="en-US" altLang="en-US" dirty="0"/>
              <a:t>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/>
              <a:t>&lt;</a:t>
            </a:r>
            <a:r>
              <a:rPr lang="en-US" altLang="en-US" dirty="0" err="1"/>
              <a:t>img</a:t>
            </a:r>
            <a:r>
              <a:rPr lang="en-US" altLang="en-US" dirty="0"/>
              <a:t> </a:t>
            </a:r>
            <a:r>
              <a:rPr lang="en-US" altLang="en-US" dirty="0" err="1"/>
              <a:t>src</a:t>
            </a:r>
            <a:r>
              <a:rPr lang="en-US" altLang="en-US" dirty="0"/>
              <a:t>=“image.png”&gt;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tabLst>
                <a:tab pos="803275" algn="l"/>
              </a:tabLst>
            </a:pPr>
            <a:r>
              <a:rPr lang="en-US" altLang="en-US" dirty="0"/>
              <a:t>&lt;</a:t>
            </a:r>
            <a:r>
              <a:rPr lang="en-US" altLang="en-US" dirty="0" err="1"/>
              <a:t>hr</a:t>
            </a:r>
            <a:r>
              <a:rPr lang="en-US" altLang="en-US" dirty="0"/>
              <a:t>&gt;  </a:t>
            </a:r>
          </a:p>
        </p:txBody>
      </p:sp>
    </p:spTree>
    <p:extLst>
      <p:ext uri="{BB962C8B-B14F-4D97-AF65-F5344CB8AC3E}">
        <p14:creationId xmlns:p14="http://schemas.microsoft.com/office/powerpoint/2010/main" val="3115425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7"/>
    </mc:Choice>
    <mc:Fallback xmlns="">
      <p:transition spd="slow" advTm="4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1031</Words>
  <Application>Microsoft Office PowerPoint</Application>
  <PresentationFormat>Widescreen</PresentationFormat>
  <Paragraphs>149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Roboto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PANKAJ KUMAR DAS</dc:creator>
  <cp:lastModifiedBy>PANKAJ KUMAR DAS</cp:lastModifiedBy>
  <cp:revision>63</cp:revision>
  <dcterms:created xsi:type="dcterms:W3CDTF">2025-11-03T18:10:11Z</dcterms:created>
  <dcterms:modified xsi:type="dcterms:W3CDTF">2025-11-05T19:18:02Z</dcterms:modified>
</cp:coreProperties>
</file>