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6" r:id="rId3"/>
    <p:sldId id="257" r:id="rId4"/>
    <p:sldId id="258" r:id="rId5"/>
    <p:sldId id="259" r:id="rId6"/>
    <p:sldId id="264" r:id="rId7"/>
    <p:sldId id="262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50F1B-5459-4AD4-B771-CCAE253440B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8CAA0-A196-4CD0-8F5A-1773FB9AB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17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8CAA0-A196-4CD0-8F5A-1773FB9AB7D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942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C6F9-89E1-75F8-A675-C2DF9F47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51730-97F6-7FB3-EAF7-9F3D5E145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1919F-EB48-C092-9974-D3C85911F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41F7A-3C24-7D4B-E642-16E8D90AF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8CAA0-A196-4CD0-8F5A-1773FB9AB7D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088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DBB-B3FA-81B8-96E5-E788C04C7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12DFF-21D2-BB7B-76CE-CCF989027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9EE5A5-62F0-1B11-67AA-30516E297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CAF66-5063-C4D5-EE48-5D9C5AF5E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8CAA0-A196-4CD0-8F5A-1773FB9AB7D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861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A3767-5CE4-2503-3FEF-DA23F2AF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CF7EE-7981-C240-CE92-EBCE8CFC4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10D22-3BE9-7024-17B3-372A1B1C5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C8C5E-9DC8-81E4-3298-C6FB94D09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8CAA0-A196-4CD0-8F5A-1773FB9AB7D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41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DE827-0798-3C07-384B-FD335DC7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FF89F-89A5-1817-A273-6DCF9403E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13792-8541-FDA2-A85D-DED94C6E4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1E9E3-D10A-9C55-4183-6C60D4B29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8CAA0-A196-4CD0-8F5A-1773FB9AB7D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0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6146-5D86-84AD-FFF4-F482892A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7C142-FF77-249D-E87F-532D91DF4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934B4-3E14-AB07-6735-5716003AF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9AB7-9847-43E4-FED4-FFE60D683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8CAA0-A196-4CD0-8F5A-1773FB9AB7D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08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B7D9E-1C50-4A26-253A-E6ADD244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C7FB1-4132-6E23-7CB0-7ED72AE60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C5036-8E8B-589D-9C8C-43CA1A3C2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B3DA1-F953-FE3F-F2F3-15D0E6F24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8CAA0-A196-4CD0-8F5A-1773FB9AB7D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66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18F1-6297-64EC-960E-B48A1A513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991FF-534D-5555-73A1-B91CA7FFE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36DAC-FDBA-908C-58B9-C3686473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2291-5AE6-F32F-B005-5B426B60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34BB-1BE2-798A-DA32-6D44EA78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51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5E61-FB05-671D-0FF6-225CA746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49007-99B6-6A4C-6E90-BEB37715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40761-7F00-CEE8-2129-01FF5D22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04A95-97A1-1AB3-E36A-4A51FC37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3958-7FE7-9F11-3BF3-F67AE959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18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6D22-7F8F-B42C-12EF-39A8EB06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36A32-F75A-E8F4-D4F0-08BFB2F8D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4811F-25A7-AE53-F15C-D2AED2E4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8B0B-7E90-7A31-2C5A-F43C5D38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B59F8-28C5-584A-3D6D-2C2E2601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56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F748-8F41-2705-D8D6-83A3A5A4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4F37F-5A17-C00C-1C7F-B6C5BB559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43357-0281-8F73-242F-E352A6901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141DF-36F2-F392-C3DF-3360E3F3D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66055-2464-B551-F964-3343EC6C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5EC90-1FCC-51CB-53FA-8FDF6C6F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6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77B2-DA18-4F17-DED5-7593DC753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878A-4F60-785B-087A-442100122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4ACD7-2CAF-7BC3-8EF8-9F155D73F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237E9-9A87-D47D-CA8C-C1B394C2F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016D1-C27D-94A0-9B08-B6AF4C6FC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35302-66DA-9D2B-3F4E-1518E6D4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C97EE-F5C3-7883-DA7D-B8C8FC81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DC40D-E77E-64C1-449D-407EFF26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7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31D6-0F42-97ED-30D9-D9A18A52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3E144-9F6C-3970-C98C-FA876403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52359-6D22-10D5-1ECC-49A6596C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26D3E-22D7-9E7B-826E-442E0472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5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0508C-26E5-0D1A-14D1-D0F6BB28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A4079-92AD-812E-146A-63F8446C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4D56F-4887-7FE3-2618-B8447D9F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69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D872-2EF9-D0A3-CA0C-F7DB24FA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39011-A4DF-4475-50D7-378B5253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864D3-80FC-ADF9-CB8B-D7DD44EF1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7C91C-0A5D-3AD5-019B-7BC55279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CF033-85D7-7061-3ADF-5A22B4F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88F04-8C12-A538-A848-BF9AC012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85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F099-317E-B269-E30A-EAEEB0BE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311C1-5C5B-2582-850F-577C1DFA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AA264-714C-196F-EBE0-64295123B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4FD61-1042-72E9-B66F-A43FA5E8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D072D-10FD-FA3A-3722-141ED11C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7CE7D-32E8-BCA9-B3F5-11786347C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25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6941-E24C-0915-1926-E5F6498F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5B60A-E90E-07B0-0623-0F001F015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42D77-80ED-9D8D-6E65-7A111F432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4D0C0-FEE9-9A27-BB58-9AA306A9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BCAC7-B2C1-28F1-FBF5-FAEB490D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4E879-38FC-3517-3490-3BA4E0CFD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32375-1809-8AC4-2829-37DF1747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0ABAD-07E8-60CE-E0A8-F86B3CEF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43645-457C-D2D6-664F-D182869A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32A2F-271F-8FC9-6CA3-CF21C202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0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AE47A-0F56-F1E8-BD03-6484EA728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F4D10-8309-CAA7-CE76-CA0D73D45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991D4-074F-3011-8A7F-1AC44557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20F86-2F36-40CB-BB67-D219B5E1B76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9564E-2861-53D3-2C28-36FFA4B59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41AF0-52A9-96BC-C741-F662D2D4F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0501E-BAB2-4F7C-9A08-B776CAE7D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5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hyperlink" Target="https://freepngimg.com/png/77688-logo-computer-youtube-icons-free-hq-imag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://info.cern.ch/hypertext/WWW/TheProject.html" TargetMode="External"/><Relationship Id="rId10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hyperlink" Target="http://commons.wikimedia.org/wiki/File:Instagram_logo_2016.sv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microsoft.com/office/2007/relationships/hdphoto" Target="../media/hdphoto4.wdp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98689E-0A4F-E596-2660-DD8DE33F7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8" y="530173"/>
            <a:ext cx="10327624" cy="579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4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487314-BD75-BC7A-0F5F-5581D31D5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75C25-43D7-B105-E46B-4278AF0D72F1}"/>
              </a:ext>
            </a:extLst>
          </p:cNvPr>
          <p:cNvSpPr txBox="1"/>
          <p:nvPr/>
        </p:nvSpPr>
        <p:spPr>
          <a:xfrm>
            <a:off x="585195" y="281265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What is HTML ?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E9C6F1-52AF-6BF2-8167-EE08671BB40A}"/>
              </a:ext>
            </a:extLst>
          </p:cNvPr>
          <p:cNvSpPr txBox="1"/>
          <p:nvPr/>
        </p:nvSpPr>
        <p:spPr>
          <a:xfrm>
            <a:off x="585195" y="1607071"/>
            <a:ext cx="100929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highlight>
                  <a:srgbClr val="00FFFF"/>
                </a:highlight>
              </a:rPr>
              <a:t>HTML Stands For HyperText markup language . Which is basically  use for design the structure of a web page.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4BE592-854A-4336-984E-CC8C7A323618}"/>
              </a:ext>
            </a:extLst>
          </p:cNvPr>
          <p:cNvSpPr txBox="1"/>
          <p:nvPr/>
        </p:nvSpPr>
        <p:spPr>
          <a:xfrm>
            <a:off x="585195" y="2992304"/>
            <a:ext cx="10092966" cy="2966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   </a:t>
            </a:r>
            <a:r>
              <a:rPr lang="en-US" sz="2000" u="sng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HTML  tell the browser how to display the web content</a:t>
            </a:r>
            <a:endParaRPr lang="en-US" sz="2000" u="sng" dirty="0">
              <a:effectLst/>
              <a:latin typeface="Roboto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sng" dirty="0">
                <a:effectLst/>
                <a:latin typeface="Roboto" panose="02000000000000000000" pitchFamily="2" charset="0"/>
              </a:rPr>
              <a:t>It was created by Sir Tim Berners-Lee in 1991.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sng" dirty="0">
                <a:effectLst/>
                <a:latin typeface="Roboto" panose="02000000000000000000" pitchFamily="2" charset="0"/>
              </a:rPr>
              <a:t>The first version of HTML, known as HTML 1.0, was released in 1993.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sng" dirty="0">
                <a:effectLst/>
                <a:latin typeface="Roboto" panose="02000000000000000000" pitchFamily="2" charset="0"/>
              </a:rPr>
              <a:t>HTML5 is the latest version of the HTML (2017*)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latin typeface="Roboto" panose="02000000000000000000" pitchFamily="2" charset="0"/>
              </a:rPr>
              <a:t>First website </a:t>
            </a:r>
            <a:r>
              <a:rPr lang="en-US" sz="2000" dirty="0"/>
              <a:t>  </a:t>
            </a:r>
            <a:r>
              <a:rPr lang="en-US" sz="2000" dirty="0">
                <a:hlinkClick r:id="rId5"/>
              </a:rPr>
              <a:t>info.cern.ch </a:t>
            </a:r>
            <a:r>
              <a:rPr lang="en-US" sz="2000" dirty="0"/>
              <a:t>is developed by Tim Berners-Lee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   </a:t>
            </a:r>
            <a:r>
              <a:rPr lang="en-US" sz="2000" b="0" i="0" u="sng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HTML consists of a series of elements (tags)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sng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We use HTML Text editors  to create a Web page.</a:t>
            </a:r>
            <a:endParaRPr lang="en-US" sz="2000" u="sng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D01554E-4763-28D0-EA61-9F37460DC976}"/>
              </a:ext>
            </a:extLst>
          </p:cNvPr>
          <p:cNvGrpSpPr/>
          <p:nvPr/>
        </p:nvGrpSpPr>
        <p:grpSpPr>
          <a:xfrm>
            <a:off x="0" y="6238240"/>
            <a:ext cx="12192000" cy="619760"/>
            <a:chOff x="0" y="6266855"/>
            <a:chExt cx="12192000" cy="6197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98D1001-EA3E-83E9-C31E-B2D3B8561355}"/>
                </a:ext>
              </a:extLst>
            </p:cNvPr>
            <p:cNvSpPr/>
            <p:nvPr/>
          </p:nvSpPr>
          <p:spPr>
            <a:xfrm>
              <a:off x="0" y="6266855"/>
              <a:ext cx="12192000" cy="6197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69B3D7A-3945-FDAC-7680-CCAC35CCB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427990" y="6360160"/>
              <a:ext cx="455930" cy="40281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39C52E3-813E-971B-F925-2769DD97F620}"/>
                </a:ext>
              </a:extLst>
            </p:cNvPr>
            <p:cNvSpPr txBox="1"/>
            <p:nvPr/>
          </p:nvSpPr>
          <p:spPr>
            <a:xfrm>
              <a:off x="883920" y="6360160"/>
              <a:ext cx="2865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@campusxchange_services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5AC9D6D-D023-B804-51FB-B38BCE970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3823655" y="6348770"/>
              <a:ext cx="455930" cy="45593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03FC5AD-BD38-8004-C59A-0D9FB5E8CE51}"/>
                </a:ext>
              </a:extLst>
            </p:cNvPr>
            <p:cNvSpPr txBox="1"/>
            <p:nvPr/>
          </p:nvSpPr>
          <p:spPr>
            <a:xfrm>
              <a:off x="4377557" y="6392069"/>
              <a:ext cx="2865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@campusxchange_services</a:t>
              </a:r>
            </a:p>
          </p:txBody>
        </p:sp>
        <p:pic>
          <p:nvPicPr>
            <p:cNvPr id="3074" name="Picture 2" descr="Facebook Logo, Social Media, Icon PNG Picture">
              <a:extLst>
                <a:ext uri="{FF2B5EF4-FFF2-40B4-BE49-F238E27FC236}">
                  <a16:creationId xmlns:a16="http://schemas.microsoft.com/office/drawing/2014/main" id="{471C5F2E-F3BF-5D61-4C5F-43C8D1783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0084" y="6308976"/>
              <a:ext cx="793156" cy="495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7E0955-1642-8C54-5951-0AAC9D339725}"/>
                </a:ext>
              </a:extLst>
            </p:cNvPr>
            <p:cNvSpPr txBox="1"/>
            <p:nvPr/>
          </p:nvSpPr>
          <p:spPr>
            <a:xfrm>
              <a:off x="7928024" y="6392069"/>
              <a:ext cx="2865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@campusxchangeservices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710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7"/>
    </mc:Choice>
    <mc:Fallback xmlns="">
      <p:transition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C86E1-4A26-F7F3-5E97-6A494B46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B346F2-2F71-DCC6-F2EB-9F7EDD23B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300673-4618-B568-76C4-07F57F10BE3E}"/>
              </a:ext>
            </a:extLst>
          </p:cNvPr>
          <p:cNvSpPr txBox="1"/>
          <p:nvPr/>
        </p:nvSpPr>
        <p:spPr>
          <a:xfrm>
            <a:off x="585195" y="281265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HTML Versions ?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F47C51-FC72-A929-56FC-F6D059566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982600"/>
              </p:ext>
            </p:extLst>
          </p:nvPr>
        </p:nvGraphicFramePr>
        <p:xfrm>
          <a:off x="585195" y="1834895"/>
          <a:ext cx="10515600" cy="386376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236571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168600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31228068"/>
                    </a:ext>
                  </a:extLst>
                </a:gridCol>
              </a:tblGrid>
              <a:tr h="452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Version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Year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Features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354754"/>
                  </a:ext>
                </a:extLst>
              </a:tr>
              <a:tr h="452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HTML 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1991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Basic text and links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5811"/>
                  </a:ext>
                </a:extLst>
              </a:tr>
              <a:tr h="452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HTML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1995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Forms and basic layout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799617"/>
                  </a:ext>
                </a:extLst>
              </a:tr>
              <a:tr h="452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HTML 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1997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Tables, images, font styling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320075"/>
                  </a:ext>
                </a:extLst>
              </a:tr>
              <a:tr h="80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HTML 4.01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1999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CSS integration, better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664365"/>
                  </a:ext>
                </a:extLst>
              </a:tr>
              <a:tr h="452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XHTML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XML-based strict HTML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1826756"/>
                  </a:ext>
                </a:extLst>
              </a:tr>
              <a:tr h="80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HTML5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2017–Now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dirty="0">
                          <a:latin typeface="+mn-lt"/>
                        </a:rPr>
                        <a:t>Multimedia, semantic tags, mobile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216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21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4B481-D7BD-E59E-1F17-815DBD2F0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4BB93E-2F76-2AE4-8526-4D74A394A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3DE808-0CA5-7C92-F136-03C5988C0D14}"/>
              </a:ext>
            </a:extLst>
          </p:cNvPr>
          <p:cNvSpPr txBox="1"/>
          <p:nvPr/>
        </p:nvSpPr>
        <p:spPr>
          <a:xfrm>
            <a:off x="585195" y="178760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Features of HTML 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B96DC3-9C1C-1E0E-F769-E7628169D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" y="1132797"/>
            <a:ext cx="9235440" cy="502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and Easy to Learn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Platform Independent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Hyperlinks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Allows Multimedia Integration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a Structured Document Format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Works with CSS and JavaScript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 and Lightweight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 Source and Free to Use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Responsive Web Design</a:t>
            </a:r>
          </a:p>
        </p:txBody>
      </p:sp>
    </p:spTree>
    <p:extLst>
      <p:ext uri="{BB962C8B-B14F-4D97-AF65-F5344CB8AC3E}">
        <p14:creationId xmlns:p14="http://schemas.microsoft.com/office/powerpoint/2010/main" val="407405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4A703-AA41-B646-056A-EC5C48A9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3278A6-3007-2F7C-322A-088FAA44E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D1E4CE-70C2-C3E1-5C3E-AC784030A439}"/>
              </a:ext>
            </a:extLst>
          </p:cNvPr>
          <p:cNvSpPr txBox="1"/>
          <p:nvPr/>
        </p:nvSpPr>
        <p:spPr>
          <a:xfrm>
            <a:off x="585195" y="178760"/>
            <a:ext cx="5886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HTML Text Editors   </a:t>
            </a:r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9FA9C-ECE8-04ED-2B4D-D5459B33C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2682580"/>
            <a:ext cx="9235440" cy="1872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altLang="en-US" sz="2400" dirty="0"/>
              <a:t>Notepad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</a:t>
            </a:r>
            <a:r>
              <a:rPr lang="en-US" altLang="en-US" sz="2400" dirty="0"/>
              <a:t>tepad++ OR </a:t>
            </a:r>
            <a:r>
              <a:rPr lang="en-US" altLang="en-US" sz="2800" dirty="0"/>
              <a:t>Sublime Text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</a:t>
            </a:r>
            <a:r>
              <a:rPr lang="en-US" altLang="en-US" sz="2800" dirty="0"/>
              <a:t>isual Studio Code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098" name="Picture 2" descr="Dale Burke: Let's Talk Tech.......">
            <a:extLst>
              <a:ext uri="{FF2B5EF4-FFF2-40B4-BE49-F238E27FC236}">
                <a16:creationId xmlns:a16="http://schemas.microsoft.com/office/drawing/2014/main" id="{F4CDB70F-A2CF-8A03-CE9C-29A6B70E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4911509"/>
            <a:ext cx="2088445" cy="146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06. The Tools | Mr. Cruwys">
            <a:extLst>
              <a:ext uri="{FF2B5EF4-FFF2-40B4-BE49-F238E27FC236}">
                <a16:creationId xmlns:a16="http://schemas.microsoft.com/office/drawing/2014/main" id="{2DF4CA14-7CFE-325E-DFAD-0DD054EDF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613" y="4784943"/>
            <a:ext cx="1467560" cy="146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ublime Text Logo">
            <a:extLst>
              <a:ext uri="{FF2B5EF4-FFF2-40B4-BE49-F238E27FC236}">
                <a16:creationId xmlns:a16="http://schemas.microsoft.com/office/drawing/2014/main" id="{7C484771-B387-54B0-F6E0-E3C340D7E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53" r="20447" b="26769"/>
          <a:stretch>
            <a:fillRect/>
          </a:stretch>
        </p:blipFill>
        <p:spPr bwMode="auto">
          <a:xfrm>
            <a:off x="5208741" y="4784943"/>
            <a:ext cx="2709238" cy="200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Visual Studio Code SVG Logo – Free Vectors">
            <a:extLst>
              <a:ext uri="{FF2B5EF4-FFF2-40B4-BE49-F238E27FC236}">
                <a16:creationId xmlns:a16="http://schemas.microsoft.com/office/drawing/2014/main" id="{9E090692-5359-C6B8-E481-D3318CF80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797" r="16282"/>
          <a:stretch>
            <a:fillRect/>
          </a:stretch>
        </p:blipFill>
        <p:spPr bwMode="auto">
          <a:xfrm>
            <a:off x="8191002" y="4167443"/>
            <a:ext cx="3119120" cy="270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73A03F0-CE81-33CF-78C7-C034E0AC4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" y="986361"/>
            <a:ext cx="9235440" cy="1697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r>
              <a:rPr lang="en-US" sz="2400" dirty="0"/>
              <a:t>A </a:t>
            </a:r>
            <a:r>
              <a:rPr lang="en-US" sz="2400" b="1" dirty="0"/>
              <a:t>HTML text editor</a:t>
            </a:r>
            <a:r>
              <a:rPr lang="en-US" sz="2400" dirty="0"/>
              <a:t> is a software application used to write, edit, and save HTML code. It allows developers to create web pages using plain text files with the </a:t>
            </a:r>
            <a:r>
              <a:rPr lang="en-US" sz="2400" b="1" dirty="0"/>
              <a:t>.html</a:t>
            </a:r>
            <a:r>
              <a:rPr lang="en-US" sz="2400" dirty="0"/>
              <a:t> extension.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8935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2352B-03A9-6649-8C9F-3F044E15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301094-0480-EF42-0E7D-35950E702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83542E-E9E4-7508-C16A-07EA61A1A0A8}"/>
              </a:ext>
            </a:extLst>
          </p:cNvPr>
          <p:cNvSpPr txBox="1"/>
          <p:nvPr/>
        </p:nvSpPr>
        <p:spPr>
          <a:xfrm>
            <a:off x="585195" y="178760"/>
            <a:ext cx="7704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 </a:t>
            </a:r>
            <a:r>
              <a:rPr lang="en-US" sz="4400" u="sng" dirty="0">
                <a:highlight>
                  <a:srgbClr val="FFFF00"/>
                </a:highlight>
              </a:rPr>
              <a:t>Structure of HTML Program  </a:t>
            </a:r>
            <a:endParaRPr lang="en-IN" sz="5400" u="sng" dirty="0">
              <a:highlight>
                <a:srgbClr val="FFFF00"/>
              </a:highlight>
            </a:endParaRPr>
          </a:p>
          <a:p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BA85BB-4549-3500-2C68-3BA77A2F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176" y="1256990"/>
            <a:ext cx="10099040" cy="55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dirty="0"/>
              <a:t>&lt;!DOCTYPE html&gt;       </a:t>
            </a:r>
          </a:p>
          <a:p>
            <a:r>
              <a:rPr lang="en-IN" sz="1600" dirty="0"/>
              <a:t>&lt;html&gt;</a:t>
            </a:r>
          </a:p>
          <a:p>
            <a:r>
              <a:rPr lang="en-IN" sz="1600" dirty="0"/>
              <a:t>&lt;head&gt;</a:t>
            </a:r>
          </a:p>
          <a:p>
            <a:r>
              <a:rPr lang="en-IN" sz="1600" dirty="0"/>
              <a:t>    &lt;title&gt;Hello HTML Program &lt;/title&gt;</a:t>
            </a:r>
          </a:p>
          <a:p>
            <a:r>
              <a:rPr lang="en-IN" sz="1600" dirty="0"/>
              <a:t>&lt;/head&gt;</a:t>
            </a:r>
          </a:p>
          <a:p>
            <a:r>
              <a:rPr lang="en-IN" sz="1600" dirty="0"/>
              <a:t>&lt;body&gt;</a:t>
            </a:r>
          </a:p>
          <a:p>
            <a:r>
              <a:rPr lang="en-IN" sz="1600" dirty="0"/>
              <a:t>    Hello HTML </a:t>
            </a:r>
          </a:p>
          <a:p>
            <a:r>
              <a:rPr lang="en-IN" sz="1600" dirty="0"/>
              <a:t>&lt;/body&gt;</a:t>
            </a:r>
          </a:p>
          <a:p>
            <a:r>
              <a:rPr lang="en-IN" sz="1600" dirty="0"/>
              <a:t>&lt;/html&gt;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r>
              <a:rPr lang="en-IN" b="1" dirty="0"/>
              <a:t>&lt;!--!DOCTYPE HTML&gt; : </a:t>
            </a:r>
            <a:r>
              <a:rPr lang="en-IN" dirty="0">
                <a:solidFill>
                  <a:srgbClr val="C00000"/>
                </a:solidFill>
              </a:rPr>
              <a:t>it define document type and the latest version HTML5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r>
              <a:rPr lang="en-IN" b="1" dirty="0"/>
              <a:t>&lt;html&gt; :  </a:t>
            </a:r>
            <a:r>
              <a:rPr lang="en-IN" dirty="0">
                <a:solidFill>
                  <a:srgbClr val="C00000"/>
                </a:solidFill>
              </a:rPr>
              <a:t>Starting point of html program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r>
              <a:rPr lang="en-IN" b="1" dirty="0"/>
              <a:t>&lt;head&gt;&lt;/head&gt; :  </a:t>
            </a:r>
            <a:r>
              <a:rPr lang="en-IN" dirty="0">
                <a:solidFill>
                  <a:srgbClr val="C00000"/>
                </a:solidFill>
              </a:rPr>
              <a:t>it contains metadata (information about page content) and external links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r>
              <a:rPr lang="en-IN" b="1" dirty="0"/>
              <a:t>&lt;title&gt;&lt;/title&gt; </a:t>
            </a:r>
            <a:r>
              <a:rPr lang="en-IN" b="1" dirty="0">
                <a:solidFill>
                  <a:srgbClr val="C00000"/>
                </a:solidFill>
              </a:rPr>
              <a:t>: </a:t>
            </a:r>
            <a:r>
              <a:rPr lang="en-IN" dirty="0">
                <a:solidFill>
                  <a:srgbClr val="C00000"/>
                </a:solidFill>
              </a:rPr>
              <a:t>it contains title of your page which display as a tab name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r>
              <a:rPr lang="en-IN" b="1" dirty="0"/>
              <a:t>&lt;body&gt; &lt;/body&gt; </a:t>
            </a:r>
            <a:r>
              <a:rPr lang="en-IN" b="1" dirty="0">
                <a:solidFill>
                  <a:srgbClr val="C00000"/>
                </a:solidFill>
              </a:rPr>
              <a:t>: </a:t>
            </a:r>
            <a:r>
              <a:rPr lang="en-IN" dirty="0">
                <a:solidFill>
                  <a:srgbClr val="C00000"/>
                </a:solidFill>
              </a:rPr>
              <a:t>Inside this we write our all page </a:t>
            </a:r>
            <a:r>
              <a:rPr lang="en-IN" b="1" dirty="0">
                <a:solidFill>
                  <a:srgbClr val="C00000"/>
                </a:solidFill>
              </a:rPr>
              <a:t>elements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r>
              <a:rPr lang="en-IN" b="1" dirty="0"/>
              <a:t>&lt;/html&gt; : </a:t>
            </a:r>
            <a:r>
              <a:rPr lang="en-IN" dirty="0">
                <a:solidFill>
                  <a:srgbClr val="C00000"/>
                </a:solidFill>
              </a:rPr>
              <a:t>Ending point of html program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endParaRPr lang="en-IN" sz="1600" dirty="0">
              <a:solidFill>
                <a:srgbClr val="00B050"/>
              </a:solidFill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08128D9D-3FE7-9486-8512-12D01A7ED29F}"/>
              </a:ext>
            </a:extLst>
          </p:cNvPr>
          <p:cNvSpPr/>
          <p:nvPr/>
        </p:nvSpPr>
        <p:spPr>
          <a:xfrm>
            <a:off x="8846047" y="1527461"/>
            <a:ext cx="2076725" cy="174915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discuss What is HTML Elements in Next lecture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69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FD474-5950-9BC0-0D64-33A11A1F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351D46-D56D-D10E-17CA-D04CC8DF2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6DBDB0-3D7F-42C0-A6F9-BC32C66CFF97}"/>
              </a:ext>
            </a:extLst>
          </p:cNvPr>
          <p:cNvSpPr txBox="1"/>
          <p:nvPr/>
        </p:nvSpPr>
        <p:spPr>
          <a:xfrm>
            <a:off x="585195" y="178760"/>
            <a:ext cx="7704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 First Program in HTML</a:t>
            </a:r>
            <a:endParaRPr lang="en-IN" sz="5400" u="sng" dirty="0">
              <a:highlight>
                <a:srgbClr val="FFFF00"/>
              </a:highlight>
            </a:endParaRPr>
          </a:p>
          <a:p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825C04-4F13-E237-0920-A2338E80A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" y="1686797"/>
            <a:ext cx="10099040" cy="3913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altLang="en-US" sz="2400" dirty="0"/>
              <a:t>Open Notepad in your PC if not installed download from official website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Press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highlight>
                  <a:srgbClr val="000000"/>
                </a:highlight>
              </a:rPr>
              <a:t>C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00"/>
                </a:highlight>
              </a:rPr>
              <a:t>trl+N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to create a new File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altLang="en-US" sz="2400" dirty="0"/>
              <a:t>Save with </a:t>
            </a:r>
            <a:r>
              <a:rPr lang="en-US" altLang="en-US" sz="2400" dirty="0">
                <a:highlight>
                  <a:srgbClr val="C0C0C0"/>
                </a:highlight>
              </a:rPr>
              <a:t>.html or .htm </a:t>
            </a:r>
            <a:r>
              <a:rPr lang="en-US" altLang="en-US" sz="2400" dirty="0"/>
              <a:t>Extension in any Location (Best in Desktop)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altLang="en-US" sz="2400" dirty="0"/>
              <a:t>Write your code in this File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Once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you wrote your code go to the outside of texeditor and open the File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altLang="en-US" sz="2400" baseline="0" dirty="0"/>
              <a:t>You</a:t>
            </a:r>
            <a:r>
              <a:rPr lang="en-US" altLang="en-US" sz="2400" dirty="0"/>
              <a:t> can see your Output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429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F2A69-7E58-D6C2-69C0-079AAA95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1ED6ED-CC26-D4D9-941C-22F1EB797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8417" y1="45552" x2="25899" y2="49466"/>
                        <a14:foregroundMark x1="39928" y1="46619" x2="58993" y2="51601"/>
                        <a14:foregroundMark x1="61871" y1="48754" x2="56835" y2="48399"/>
                        <a14:foregroundMark x1="61871" y1="48043" x2="32014" y2="33096"/>
                        <a14:foregroundMark x1="32014" y1="33096" x2="33453" y2="50890"/>
                        <a14:foregroundMark x1="38849" y1="45196" x2="21583" y2="46263"/>
                        <a14:foregroundMark x1="34892" y1="45907" x2="33453" y2="46619"/>
                        <a14:foregroundMark x1="55396" y1="42705" x2="71583" y2="44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60" y="-264241"/>
            <a:ext cx="2076725" cy="2099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90FCC-E1DC-29B6-923C-30A8378DC088}"/>
              </a:ext>
            </a:extLst>
          </p:cNvPr>
          <p:cNvSpPr txBox="1"/>
          <p:nvPr/>
        </p:nvSpPr>
        <p:spPr>
          <a:xfrm>
            <a:off x="585195" y="178760"/>
            <a:ext cx="7704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highlight>
                  <a:srgbClr val="FFFF00"/>
                </a:highlight>
              </a:rPr>
              <a:t> Hello.html program</a:t>
            </a:r>
            <a:endParaRPr lang="en-IN" sz="5400" u="sng" dirty="0">
              <a:highlight>
                <a:srgbClr val="FFFF00"/>
              </a:highlight>
            </a:endParaRPr>
          </a:p>
          <a:p>
            <a:endParaRPr lang="en-IN" sz="5400" u="sng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1F700C-2377-0F94-D746-D8E0C7EE2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37" y="1455207"/>
            <a:ext cx="10099040" cy="502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/>
              <a:t>&lt;!DOCTYPE html&gt;      </a:t>
            </a:r>
          </a:p>
          <a:p>
            <a:r>
              <a:rPr lang="en-IN" sz="2400" dirty="0">
                <a:solidFill>
                  <a:srgbClr val="00B050"/>
                </a:solidFill>
              </a:rPr>
              <a:t>&lt;!--!DOCTYPE  define the latest version HTML5 --&gt;</a:t>
            </a:r>
          </a:p>
          <a:p>
            <a:r>
              <a:rPr lang="en-IN" sz="2400" dirty="0"/>
              <a:t>&lt;html&gt;</a:t>
            </a:r>
          </a:p>
          <a:p>
            <a:r>
              <a:rPr lang="en-IN" sz="2400" dirty="0"/>
              <a:t>&lt;head&gt;</a:t>
            </a:r>
          </a:p>
          <a:p>
            <a:r>
              <a:rPr lang="en-IN" sz="2400" dirty="0"/>
              <a:t>    </a:t>
            </a:r>
            <a:r>
              <a:rPr lang="en-IN" sz="2400" dirty="0">
                <a:solidFill>
                  <a:srgbClr val="00B050"/>
                </a:solidFill>
              </a:rPr>
              <a:t>&lt;meta charset="UTF-8"&gt;</a:t>
            </a:r>
          </a:p>
          <a:p>
            <a:r>
              <a:rPr lang="en-IN" sz="2400" dirty="0">
                <a:solidFill>
                  <a:srgbClr val="00B050"/>
                </a:solidFill>
              </a:rPr>
              <a:t>    &lt;meta name="viewport" content="width=device-width, initial-scale=1.0"&gt;</a:t>
            </a:r>
          </a:p>
          <a:p>
            <a:r>
              <a:rPr lang="en-IN" sz="2400" dirty="0"/>
              <a:t>    &lt;title&gt;Hello HTML Program &lt;/title&gt;</a:t>
            </a:r>
          </a:p>
          <a:p>
            <a:r>
              <a:rPr lang="en-IN" sz="2400" dirty="0"/>
              <a:t>&lt;/head&gt;</a:t>
            </a:r>
          </a:p>
          <a:p>
            <a:r>
              <a:rPr lang="en-IN" sz="2400" dirty="0"/>
              <a:t>&lt;body&gt;</a:t>
            </a:r>
          </a:p>
          <a:p>
            <a:r>
              <a:rPr lang="en-IN" sz="2400" dirty="0"/>
              <a:t>    Hello HTML </a:t>
            </a:r>
          </a:p>
          <a:p>
            <a:r>
              <a:rPr lang="en-IN" sz="2400" dirty="0"/>
              <a:t>&lt;/body&gt;</a:t>
            </a:r>
          </a:p>
          <a:p>
            <a:r>
              <a:rPr lang="en-IN" sz="2400" dirty="0"/>
              <a:t>&lt;/html&gt;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803275" algn="l"/>
              </a:tabLs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4ECA7D65-7002-DE2A-4125-4E3441895060}"/>
              </a:ext>
            </a:extLst>
          </p:cNvPr>
          <p:cNvSpPr/>
          <p:nvPr/>
        </p:nvSpPr>
        <p:spPr>
          <a:xfrm>
            <a:off x="8910652" y="1272345"/>
            <a:ext cx="2076725" cy="174915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Currently ignore these two line we discuss about it in next lectures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35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"/>
    </mc:Choice>
    <mc:Fallback xmlns="">
      <p:transition spd="slow" advTm="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858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546</Words>
  <Application>Microsoft Office PowerPoint</Application>
  <PresentationFormat>Widescreen</PresentationFormat>
  <Paragraphs>94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PANKAJ KUMAR DAS</dc:creator>
  <cp:lastModifiedBy>PANKAJ KUMAR DAS</cp:lastModifiedBy>
  <cp:revision>43</cp:revision>
  <dcterms:created xsi:type="dcterms:W3CDTF">2025-11-03T18:10:11Z</dcterms:created>
  <dcterms:modified xsi:type="dcterms:W3CDTF">2025-11-04T16:17:33Z</dcterms:modified>
</cp:coreProperties>
</file>